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941fa1d0114503" /><Relationship Type="http://schemas.openxmlformats.org/officeDocument/2006/relationships/extended-properties" Target="/docProps/app.xml" Id="R98ef0f438bff431c" /><Relationship Type="http://schemas.openxmlformats.org/officeDocument/2006/relationships/officeDocument" Target="/ppt/presentation.xml" Id="R2cf70e56efda428b" /></Relationships>
</file>

<file path=ppt/presentation.xml><?xml version="1.0" encoding="utf-8"?>
<p:presentation xmlns:p="http://schemas.openxmlformats.org/presentationml/2006/main">
  <p:sldMasterIdLst>
    <p:sldMasterId xmlns:r="http://schemas.openxmlformats.org/officeDocument/2006/relationships" id="2147483648" r:id="R7ac5923b75464995"/>
  </p:sldMasterIdLst>
  <p:notesMasterIdLst>
    <p:notesMasterId xmlns:r="http://schemas.openxmlformats.org/officeDocument/2006/relationships" r:id="R6102f10132514e31"/>
  </p:notesMasterIdLst>
  <p:sldIdLst>
    <p:sldId xmlns:r="http://schemas.openxmlformats.org/officeDocument/2006/relationships" id="256" r:id="Rf5410cc34d01485b"/>
    <p:sldId xmlns:r="http://schemas.openxmlformats.org/officeDocument/2006/relationships" id="257" r:id="Ra870344ddd634609"/>
    <p:sldId xmlns:r="http://schemas.openxmlformats.org/officeDocument/2006/relationships" id="258" r:id="Rf2cc1858097f48cd"/>
    <p:sldId xmlns:r="http://schemas.openxmlformats.org/officeDocument/2006/relationships" id="259" r:id="Rb631651d32c24fe0"/>
    <p:sldId xmlns:r="http://schemas.openxmlformats.org/officeDocument/2006/relationships" id="260" r:id="R5715759742764917"/>
    <p:sldId xmlns:r="http://schemas.openxmlformats.org/officeDocument/2006/relationships" id="261" r:id="R23fe6a08e8254555"/>
    <p:sldId xmlns:r="http://schemas.openxmlformats.org/officeDocument/2006/relationships" id="262" r:id="R4159e0c47d094a8e"/>
    <p:sldId xmlns:r="http://schemas.openxmlformats.org/officeDocument/2006/relationships" id="263" r:id="Rfc86746f47274a04"/>
    <p:sldId xmlns:r="http://schemas.openxmlformats.org/officeDocument/2006/relationships" id="264" r:id="R0333d00193c9432d"/>
    <p:sldId xmlns:r="http://schemas.openxmlformats.org/officeDocument/2006/relationships" id="265" r:id="Rfb5215118cbd40b2"/>
    <p:sldId xmlns:r="http://schemas.openxmlformats.org/officeDocument/2006/relationships" id="266" r:id="Ra97d9ab4e4a4461b"/>
    <p:sldId xmlns:r="http://schemas.openxmlformats.org/officeDocument/2006/relationships" id="267" r:id="R3c1ee7932de644c5"/>
    <p:sldId xmlns:r="http://schemas.openxmlformats.org/officeDocument/2006/relationships" id="268" r:id="R51cccc92b8004130"/>
    <p:sldId xmlns:r="http://schemas.openxmlformats.org/officeDocument/2006/relationships" id="269" r:id="Rb37881396b11422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110973e2a5426e" /><Relationship Type="http://schemas.openxmlformats.org/officeDocument/2006/relationships/slideMaster" Target="/ppt/slideMasters/slideMaster1.xml" Id="R7ac5923b75464995" /><Relationship Type="http://schemas.openxmlformats.org/officeDocument/2006/relationships/notesMaster" Target="/ppt/notesMasters/notesMaster1.xml" Id="R6102f10132514e31" /><Relationship Type="http://schemas.openxmlformats.org/officeDocument/2006/relationships/presProps" Target="/ppt/presProps.xml" Id="Rc808034d8ba24976" /><Relationship Type="http://schemas.openxmlformats.org/officeDocument/2006/relationships/tableStyles" Target="/ppt/tableStyles.xml" Id="Rbc4e5b1d51654e8f" /><Relationship Type="http://schemas.openxmlformats.org/officeDocument/2006/relationships/slide" Target="/ppt/slides/slide1.xml" Id="Rf5410cc34d01485b" /><Relationship Type="http://schemas.openxmlformats.org/officeDocument/2006/relationships/slide" Target="/ppt/slides/slide2.xml" Id="Ra870344ddd634609" /><Relationship Type="http://schemas.openxmlformats.org/officeDocument/2006/relationships/slide" Target="/ppt/slides/slide3.xml" Id="Rf2cc1858097f48cd" /><Relationship Type="http://schemas.openxmlformats.org/officeDocument/2006/relationships/slide" Target="/ppt/slides/slide4.xml" Id="Rb631651d32c24fe0" /><Relationship Type="http://schemas.openxmlformats.org/officeDocument/2006/relationships/slide" Target="/ppt/slides/slide5.xml" Id="R5715759742764917" /><Relationship Type="http://schemas.openxmlformats.org/officeDocument/2006/relationships/slide" Target="/ppt/slides/slide6.xml" Id="R23fe6a08e8254555" /><Relationship Type="http://schemas.openxmlformats.org/officeDocument/2006/relationships/slide" Target="/ppt/slides/slide7.xml" Id="R4159e0c47d094a8e" /><Relationship Type="http://schemas.openxmlformats.org/officeDocument/2006/relationships/slide" Target="/ppt/slides/slide8.xml" Id="Rfc86746f47274a04" /><Relationship Type="http://schemas.openxmlformats.org/officeDocument/2006/relationships/slide" Target="/ppt/slides/slide9.xml" Id="R0333d00193c9432d" /><Relationship Type="http://schemas.openxmlformats.org/officeDocument/2006/relationships/slide" Target="/ppt/slides/slide10.xml" Id="Rfb5215118cbd40b2" /><Relationship Type="http://schemas.openxmlformats.org/officeDocument/2006/relationships/slide" Target="/ppt/slides/slide11.xml" Id="Ra97d9ab4e4a4461b" /><Relationship Type="http://schemas.openxmlformats.org/officeDocument/2006/relationships/slide" Target="/ppt/slides/slide12.xml" Id="R3c1ee7932de644c5" /><Relationship Type="http://schemas.openxmlformats.org/officeDocument/2006/relationships/slide" Target="/ppt/slides/slide13.xml" Id="R51cccc92b8004130" /><Relationship Type="http://schemas.openxmlformats.org/officeDocument/2006/relationships/slide" Target="/ppt/slides/slide14.xml" Id="Rb37881396b1142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e7b920624e4b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419913d0ad4c9c" /><Relationship Type="http://schemas.openxmlformats.org/officeDocument/2006/relationships/notesMaster" Target="/ppt/notesMasters/notesMaster1.xml" Id="R71c12f0963d040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f64213c14f4c74" /><Relationship Type="http://schemas.openxmlformats.org/officeDocument/2006/relationships/notesMaster" Target="/ppt/notesMasters/notesMaster1.xml" Id="Re3aa4048e29640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f56ef7ab234539" /><Relationship Type="http://schemas.openxmlformats.org/officeDocument/2006/relationships/notesMaster" Target="/ppt/notesMasters/notesMaster1.xml" Id="R6207b76ca1d847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e0b92a717b495a" /><Relationship Type="http://schemas.openxmlformats.org/officeDocument/2006/relationships/notesMaster" Target="/ppt/notesMasters/notesMaster1.xml" Id="R77b50644ce0e46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4d36da1d01403c" /><Relationship Type="http://schemas.openxmlformats.org/officeDocument/2006/relationships/notesMaster" Target="/ppt/notesMasters/notesMaster1.xml" Id="R0a9c8eecc5254b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4ec6408b1d47e2" /><Relationship Type="http://schemas.openxmlformats.org/officeDocument/2006/relationships/notesMaster" Target="/ppt/notesMasters/notesMaster1.xml" Id="Rd66d667c8d9449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eab5503e1a4150" /><Relationship Type="http://schemas.openxmlformats.org/officeDocument/2006/relationships/notesMaster" Target="/ppt/notesMasters/notesMaster1.xml" Id="R04bdae2604c742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849fab8c43421e" /><Relationship Type="http://schemas.openxmlformats.org/officeDocument/2006/relationships/notesMaster" Target="/ppt/notesMasters/notesMaster1.xml" Id="Rce2449cf5c0c47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5324a05e9147d0" /><Relationship Type="http://schemas.openxmlformats.org/officeDocument/2006/relationships/notesMaster" Target="/ppt/notesMasters/notesMaster1.xml" Id="R9df07876e9c94c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d819b84e9a4f0f" /><Relationship Type="http://schemas.openxmlformats.org/officeDocument/2006/relationships/notesMaster" Target="/ppt/notesMasters/notesMaster1.xml" Id="Rb1c8e91c53dc47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436e47ea114077" /><Relationship Type="http://schemas.openxmlformats.org/officeDocument/2006/relationships/notesMaster" Target="/ppt/notesMasters/notesMaster1.xml" Id="Rce75fa77bafd4b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4d887ad5b004144" /><Relationship Type="http://schemas.openxmlformats.org/officeDocument/2006/relationships/notesMaster" Target="/ppt/notesMasters/notesMaster1.xml" Id="Rfaab621c29e64f8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9909a5612f46df" /><Relationship Type="http://schemas.openxmlformats.org/officeDocument/2006/relationships/notesMaster" Target="/ppt/notesMasters/notesMaster1.xml" Id="R496a3e418d35440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e88b5b27c9f45d2" /><Relationship Type="http://schemas.openxmlformats.org/officeDocument/2006/relationships/notesMaster" Target="/ppt/notesMasters/notesMaster1.xml" Id="Rdeae2d9e97c24e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0,5 min. Démonstration comprise.</a:t>
            </a:r>
          </a:p>
          <a:p xmlns:a="http://schemas.openxmlformats.org/drawingml/2006/main">
            <a:r>
              <a:t/>
            </a:r>
          </a:p>
          <a:p xmlns:a="http://schemas.openxmlformats.org/drawingml/2006/main">
            <a:r>
              <a:t>Présenter le périmètre : analyse des exécutables Env.exe et Res.exe, investigation en mémoire et sur disque, puis identification et traces Windows d'une clé USB. Le support suit les US 1 à 10. Les résultats viennent du dépôt et de ses captures, et ne correspondent pas à une nouvelle exécution du malware. Le backlog prévoit environ 30 minutes de démonstration par groupe.</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C:/Users/User/source/cybersecurite/RAPPORT.md</a:t>
            </a:r>
          </a:p>
          <a:p xmlns:a="http://schemas.openxmlformats.org/drawingml/2006/main">
            <a:r>
              <a:t/>
            </a:r>
          </a:p>
          <a:p xmlns:a="http://schemas.openxmlformats.org/drawingml/2006/main">
            <a:r>
              <a:t>C:/Users/User/Downloads/Backlog - Reverse engineering.pdf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 min. Démonstration comprise.</a:t>
            </a:r>
          </a:p>
          <a:p xmlns:a="http://schemas.openxmlformats.org/drawingml/2006/main">
            <a:r>
              <a:t/>
            </a:r>
          </a:p>
          <a:p xmlns:a="http://schemas.openxmlformats.org/drawingml/2006/main">
            <a:r>
              <a:t>Annoncer le déroulé. US 1 à 5 : laboratoire, reconnaissance, analyse statique, comportement et risque. US 6 à 8 : acquisition RAM, copie du disque et corrélation, avec un point distinct sur la persistance. US 9 et 10 : identification physique de la clé et dates conservées par Windows. La dernière partie présente une piste indépendante : la présence d'une clé ne prouve pas qu'elle a transporté le malware. Le rapport Markdown porte les détails et chaque dossier US conserve les commandes et les preuves.</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C:/Users/User/source/cybersecurite/RAPPORT.md</a:t>
            </a:r>
          </a:p>
          <a:p xmlns:a="http://schemas.openxmlformats.org/drawingml/2006/main">
            <a:r>
              <a:t/>
            </a:r>
          </a:p>
          <a:p xmlns:a="http://schemas.openxmlformats.org/drawingml/2006/main">
            <a:r>
              <a:t>C:/Users/User/Downloads/Backlog - Reverse engineering.pdf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2 min. Démonstration comprise.</a:t>
            </a:r>
          </a:p>
          <a:p xmlns:a="http://schemas.openxmlformats.org/drawingml/2006/main">
            <a:r>
              <a:t/>
            </a:r>
          </a:p>
          <a:p xmlns:a="http://schemas.openxmlformats.org/drawingml/2006/main">
            <a:r>
              <a:t>Montrer US-1/story.md et imageVM.png. La première story décrit Windows 11 avec UTM ou VirtualBox, 8 Go de RAM et un réseau Host Only. La capture montre UTM et une architecture ARM64, mais pas la configuration réseau. La capture windows.info de l'US 6 provient d'un autre environnement : Windows 10 x64, build 19041, sous VirtualBox. Ne pas présenter les caractéristiques de ces deux environnements comme celles d'une VM unique. Pour la démonstration de l'isolation, montrer les paramètres réseau réels si la VM est disponible, sans lancer le malware. La preuve d'absence de fuite réseau n'est pas complète dans les captures du dépôt.</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C:/Users/User/source/cybersecurite/US-1/story.md</a:t>
            </a:r>
          </a:p>
          <a:p xmlns:a="http://schemas.openxmlformats.org/drawingml/2006/main">
            <a:r>
              <a:t/>
            </a:r>
          </a:p>
          <a:p xmlns:a="http://schemas.openxmlformats.org/drawingml/2006/main">
            <a:r>
              <a:t>C:/Users/User/source/cybersecurite/US-1/imageVM.png</a:t>
            </a:r>
          </a:p>
          <a:p xmlns:a="http://schemas.openxmlformats.org/drawingml/2006/main">
            <a:r>
              <a:t/>
            </a:r>
          </a:p>
          <a:p xmlns:a="http://schemas.openxmlformats.org/drawingml/2006/main">
            <a:r>
              <a:t>C:/Users/User/source/cybersecurite/US-6/story.md</a:t>
            </a:r>
          </a:p>
          <a:p xmlns:a="http://schemas.openxmlformats.org/drawingml/2006/main">
            <a:r>
              <a:t/>
            </a:r>
          </a:p>
          <a:p xmlns:a="http://schemas.openxmlformats.org/drawingml/2006/main">
            <a:r>
              <a:t>C:/Users/User/source/cybersecurite/US-6/02-windows-info.png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2 min. Démonstration comprise.</a:t>
            </a:r>
          </a:p>
          <a:p xmlns:a="http://schemas.openxmlformats.org/drawingml/2006/main">
            <a:r>
              <a:t/>
            </a:r>
          </a:p>
          <a:p xmlns:a="http://schemas.openxmlformats.org/drawingml/2006/main">
            <a:r>
              <a:t>Montrer le résultat VirusTotal conservé dans l'US 2 et expliquer le calcul SHA-256 avec sha256sum Env.exe. Le score 26/71 correspond à la capture du dossier, pas à une nouvelle consultation. La capture classe l'échantillon comme trojan et comporte notamment des libellés keylogger et malgent. Le taux de détection ne mesure ni la gravité ni une probabilité de malveillance. L'identifiant de l'échantillon permet la comparaison avec une base existante. SHA-256 exact : e09ec2098363a129de143fdaf73ad6e2e61266fba3f638a25214af3a8bc8f2f2. La date de dernière soumission indiquée dans la story ne doit pas être présentée comme la date de consultation.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C:/Users/User/source/cybersecurite/US-2/story.md</a:t>
            </a:r>
          </a:p>
          <a:p xmlns:a="http://schemas.openxmlformats.org/drawingml/2006/main">
            <a:r>
              <a:t/>
            </a:r>
          </a:p>
          <a:p xmlns:a="http://schemas.openxmlformats.org/drawingml/2006/main">
            <a:r>
              <a:t>C:/Users/User/source/cybersecurite/US-2/imageVirusTotal.png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3 min. Démonstration comprise.</a:t>
            </a:r>
          </a:p>
          <a:p xmlns:a="http://schemas.openxmlformats.org/drawingml/2006/main">
            <a:r>
              <a:t/>
            </a:r>
          </a:p>
          <a:p xmlns:a="http://schemas.openxmlformats.org/drawingml/2006/main">
            <a:r>
              <a:t>Ouvrir US-3/story.md et parcourir les sorties documentées. Env.exe et Res.exe sont des PE32 x86 de huit sections. Qt5 et les bibliothèques MinGW orientent vers une compilation C++/Qt. Les appels QSslSocket::connectToHostEncrypted et startClientEncryption d'Env.exe indiquent une capacité TLS, sans prouver une connexion effective ni identifier une destination. Res.exe contient des chaînes XCOPY pour préparer C:\WindSyst et une référence à HKCU\Software\Microsoft\Windows\CurrentVersion\Run. Une chaîne est un indice, pas la preuve que la clé existe dans la ruche analysée. Les noms de fichiers et le chemin sont des indicateurs à corréler au hash et au comportement. Les binaires originaux ne figurent pas dans les ressources utilisées pour cette présentation.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C:/Users/User/source/cybersecurite/US-3/story.md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3 min. Démonstration comprise.</a:t>
            </a:r>
          </a:p>
          <a:p xmlns:a="http://schemas.openxmlformats.org/drawingml/2006/main">
            <a:r>
              <a:t/>
            </a:r>
          </a:p>
          <a:p xmlns:a="http://schemas.openxmlformats.org/drawingml/2006/main">
            <a:r>
              <a:t>Montrer US-4/imageLog.png puis le contenu de C:\WindSyst dans la story. Les frappes de test apparaissent dans log.txt : c'est le comportement local le plus probant. La story rapporte la copie des fichiers et dépendances sous C:\WindSyst. Env.exe échoue au lancement avec un problème de plugin Qt windows. L'absence de qwindows.dll est rapportée dans le texte. La capture du moniteur de ressources ne montre pas d'activité réseau à l'instant observé, mais la durée de surveillance n'est pas documentée. Ne pas conclure à une absence générale de communication. Préférer les preuves déjà acquises à une nouvelle exécution non préparée pendant la soutenance.</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C:/Users/User/source/cybersecurite/US-4/story.md</a:t>
            </a:r>
          </a:p>
          <a:p xmlns:a="http://schemas.openxmlformats.org/drawingml/2006/main">
            <a:r>
              <a:t/>
            </a:r>
          </a:p>
          <a:p xmlns:a="http://schemas.openxmlformats.org/drawingml/2006/main">
            <a:r>
              <a:t>C:/Users/User/source/cybersecurite/US-4/imageLog.png</a:t>
            </a:r>
          </a:p>
          <a:p xmlns:a="http://schemas.openxmlformats.org/drawingml/2006/main">
            <a:r>
              <a:t/>
            </a:r>
          </a:p>
          <a:p xmlns:a="http://schemas.openxmlformats.org/drawingml/2006/main">
            <a:r>
              <a:t>C:/Users/User/source/cybersecurite/US-4/imageWindSyst.png</a:t>
            </a:r>
          </a:p>
          <a:p xmlns:a="http://schemas.openxmlformats.org/drawingml/2006/main">
            <a:r>
              <a:t/>
            </a:r>
          </a:p>
          <a:p xmlns:a="http://schemas.openxmlformats.org/drawingml/2006/main">
            <a:r>
              <a:t>C:/Users/User/source/cybersecurite/US-4/imageActiviteReseau.png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2 min. Démonstration comprise.</a:t>
            </a:r>
          </a:p>
          <a:p xmlns:a="http://schemas.openxmlformats.org/drawingml/2006/main">
            <a:r>
              <a:t/>
            </a:r>
          </a:p>
          <a:p xmlns:a="http://schemas.openxmlformats.org/drawingml/2006/main">
            <a:r>
              <a:t>Justifier le niveau de risque par la capture locale des frappes et les traces de lancement automatique. Des identifiants saisis dans l'environnement concerné peuvent être exposés. Le dossier ne prouve pas qu'ils ont quitté la machine. Présenter les mesures proposées dans l'US 5 et le rapport : isoler le poste en conservant les preuves, renouveler les secrets depuis un poste sain, puis traiter les fichiers et mécanismes de démarrage avec les moyens de sécurité. En prévention, surveiller les ajouts au démarrage et encadrer les périphériques USB. Le support USB étudié n'est pas une preuve de propagation. Aucune de ces mesures n'a été exécutée dans le cadre de la création du support.</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C:/Users/User/source/cybersecurite/US-5/story.md</a:t>
            </a:r>
          </a:p>
          <a:p xmlns:a="http://schemas.openxmlformats.org/drawingml/2006/main">
            <a:r>
              <a:t/>
            </a:r>
          </a:p>
          <a:p xmlns:a="http://schemas.openxmlformats.org/drawingml/2006/main">
            <a:r>
              <a:t>C:/Users/User/source/cybersecurite/RAPPORT.md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3 min. Démonstration comprise.</a:t>
            </a:r>
          </a:p>
          <a:p xmlns:a="http://schemas.openxmlformats.org/drawingml/2006/main">
            <a:r>
              <a:t/>
            </a:r>
          </a:p>
          <a:p xmlns:a="http://schemas.openxmlformats.org/drawingml/2006/main">
            <a:r>
              <a:t>Présenter l'acquisition VirtualBox : VBoxManage debugvm "Windows" dumpvmcore --filename "C:\Users\ilian\memory-dump.elf". Le fichier décrit mesure 2 287 859 496 octets. Volatility 3 exploite le dump, mais cette taille ne suffit pas à démontrer l'exhaustivité de l'acquisition. windows.info identifie Windows 10 x64, build 19041. Montrer windows.pslist puis windows.pstree : PID 4504, PPID 2712, processus 32 bits sous WoW64. Le parent est explorer.exe et la story retrace userinit.exe puis explorer.exe puis Res.exe. Le filtre windows.netscan ne renvoie pas ce PID. windows.malware.malfind ne signale pas de région pour ce PID. Ces deux résultats négatifs sont limités au dump et aux recherches présentées. windows.dlllist retrouve des DLL Qt/MinGW sous WindSyst.</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C:/Users/User/source/cybersecurite/US-6/story.md</a:t>
            </a:r>
          </a:p>
          <a:p xmlns:a="http://schemas.openxmlformats.org/drawingml/2006/main">
            <a:r>
              <a:t/>
            </a:r>
          </a:p>
          <a:p xmlns:a="http://schemas.openxmlformats.org/drawingml/2006/main">
            <a:r>
              <a:t>C:/Users/User/source/cybersecurite/US-6/02-windows-info.png</a:t>
            </a:r>
          </a:p>
          <a:p xmlns:a="http://schemas.openxmlformats.org/drawingml/2006/main">
            <a:r>
              <a:t/>
            </a:r>
          </a:p>
          <a:p xmlns:a="http://schemas.openxmlformats.org/drawingml/2006/main">
            <a:r>
              <a:t>C:/Users/User/source/cybersecurite/US-6/03-res-processes.png</a:t>
            </a:r>
          </a:p>
          <a:p xmlns:a="http://schemas.openxmlformats.org/drawingml/2006/main">
            <a:r>
              <a:t/>
            </a:r>
          </a:p>
          <a:p xmlns:a="http://schemas.openxmlformats.org/drawingml/2006/main">
            <a:r>
              <a:t>C:/Users/User/source/cybersecurite/US-6/04-pstree.png</a:t>
            </a:r>
          </a:p>
          <a:p xmlns:a="http://schemas.openxmlformats.org/drawingml/2006/main">
            <a:r>
              <a:t/>
            </a:r>
          </a:p>
          <a:p xmlns:a="http://schemas.openxmlformats.org/drawingml/2006/main">
            <a:r>
              <a:t>C:/Users/User/source/cybersecurite/US-6/06-netscan-no-result.png</a:t>
            </a:r>
          </a:p>
          <a:p xmlns:a="http://schemas.openxmlformats.org/drawingml/2006/main">
            <a:r>
              <a:t/>
            </a:r>
          </a:p>
          <a:p xmlns:a="http://schemas.openxmlformats.org/drawingml/2006/main">
            <a:r>
              <a:t>C:/Users/User/source/cybersecurite/US-6/07-malfind.png</a:t>
            </a:r>
          </a:p>
          <a:p xmlns:a="http://schemas.openxmlformats.org/drawingml/2006/main">
            <a:r>
              <a:t/>
            </a:r>
          </a:p>
          <a:p xmlns:a="http://schemas.openxmlformats.org/drawingml/2006/main">
            <a:r>
              <a:t>C:/Users/User/source/cybersecurite/US-6/08-dlllist.png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2,5 min. Démonstration comprise.</a:t>
            </a:r>
          </a:p>
          <a:p xmlns:a="http://schemas.openxmlformats.org/drawingml/2006/main">
            <a:r>
              <a:t/>
            </a:r>
          </a:p>
          <a:p xmlns:a="http://schemas.openxmlformats.org/drawingml/2006/main">
            <a:r>
              <a:t>Montrer US-7/03-hash-comparison.png. Le disque VirtualBox Windows.vdi a une capacité logique de 50 Go. Copy-Item produit Windows-forensic.vdi. Get-FileHash retourne le même SHA-256 pour les deux fichiers, ce qui étaye l'identité de leur contenu lors du contrôle. SHA-256 exact : 63D03BE07129EEFA538706C376C3640D634AD6A732F608D5735B968D86E64E6F. La story convertit ensuite le VDI source en VHD avec clonemedium et monte le VHD en lecture seule. Cette conversion part du source, pas de la copie forensic. Le dépôt ne documente pas l'arrêt de la VM ni toute la chaîne de conservation. Expliquer ces limites à l'oral. Le montage de travail donne accès à E:\WindSyst\Res.exe.</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C:/Users/User/source/cybersecurite/US-7/story.md</a:t>
            </a:r>
          </a:p>
          <a:p xmlns:a="http://schemas.openxmlformats.org/drawingml/2006/main">
            <a:r>
              <a:t/>
            </a:r>
          </a:p>
          <a:p xmlns:a="http://schemas.openxmlformats.org/drawingml/2006/main">
            <a:r>
              <a:t>C:/Users/User/source/cybersecurite/US-7/01-identification-disque.png</a:t>
            </a:r>
          </a:p>
          <a:p xmlns:a="http://schemas.openxmlformats.org/drawingml/2006/main">
            <a:r>
              <a:t/>
            </a:r>
          </a:p>
          <a:p xmlns:a="http://schemas.openxmlformats.org/drawingml/2006/main">
            <a:r>
              <a:t>C:/Users/User/source/cybersecurite/US-7/03-hash-comparison.png</a:t>
            </a:r>
          </a:p>
          <a:p xmlns:a="http://schemas.openxmlformats.org/drawingml/2006/main">
            <a:r>
              <a:t/>
            </a:r>
          </a:p>
          <a:p xmlns:a="http://schemas.openxmlformats.org/drawingml/2006/main">
            <a:r>
              <a:t>C:/Users/User/source/cybersecurite/US-7/04-montage-vhd.png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2 min. Démonstration comprise.</a:t>
            </a:r>
          </a:p>
          <a:p xmlns:a="http://schemas.openxmlformats.org/drawingml/2006/main">
            <a:r>
              <a:t/>
            </a:r>
          </a:p>
          <a:p xmlns:a="http://schemas.openxmlformats.org/drawingml/2006/main">
            <a:r>
              <a:t>Montrer windows.cmdline pour le PID 4504, puis la présence du fichier sur le volume monté. En mémoire : C:\WindSyst\Res.exe. Sur le VHD monté : E:\WindSyst\Res.exe. E: est ici la lettre affectée au disque monté sur le poste d'analyse, sans rapport établi avec la lettre E: du périphérique USB de l'US 10. Les noms de fichiers, le chemin relatif et les dépendances Qt/MinGW sont cohérents entre RAM et disque. Le fichier sur disque mesure 25 088 octets. Le dossier ne contient pas une comparaison cryptographique entre un binaire extrait de la RAM et le fichier disque. Parler de corrélation par nom et chemin, pas d'identité binaire démontrée.</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C:/Users/User/source/cybersecurite/US-6/05-cmdline.png</a:t>
            </a:r>
          </a:p>
          <a:p xmlns:a="http://schemas.openxmlformats.org/drawingml/2006/main">
            <a:r>
              <a:t/>
            </a:r>
          </a:p>
          <a:p xmlns:a="http://schemas.openxmlformats.org/drawingml/2006/main">
            <a:r>
              <a:t>C:/Users/User/source/cybersecurite/US-7/05-res-present.png</a:t>
            </a:r>
          </a:p>
          <a:p xmlns:a="http://schemas.openxmlformats.org/drawingml/2006/main">
            <a:r>
              <a:t/>
            </a:r>
          </a:p>
          <a:p xmlns:a="http://schemas.openxmlformats.org/drawingml/2006/main">
            <a:r>
              <a:t>C:/Users/User/source/cybersecurite/US-8/story.md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2,5 min. Démonstration comprise.</a:t>
            </a:r>
          </a:p>
          <a:p xmlns:a="http://schemas.openxmlformats.org/drawingml/2006/main">
            <a:r>
              <a:t/>
            </a:r>
          </a:p>
          <a:p xmlns:a="http://schemas.openxmlformats.org/drawingml/2006/main">
            <a:r>
              <a:t>Montrer la capture des applications de démarrage : Env et Res.exe portent le statut Activé. Cela démontre une configuration de démarrage, pas à lui seul une exécution après redémarrage. L'US 8 rapporte aussi un lancement de Res.exe au démarrage de la VM sans action manuelle. Les recherches documentées couvrent des clés HKLM Run/RunOnce et WOW6432Node, les dossiers Startup et les tâches, sans résultat pertinent. La recherche de res.exe dans la ruche SOFTWARE retourne optionalfeatures.exe, qui est un faux positif textuel. Les chaînes de l'analyse statique orientent vers HKCU Run. La ruche utilisateur NTUSER.DAT n'a pas été vérifiée dans les éléments fournis : c'est la prochaine vérification prioritaire. Ne pas attribuer la persistance à une clé de registre non retrouvée.</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C:/Users/User/source/cybersecurite/US-4/imageAppDemarrage.png</a:t>
            </a:r>
          </a:p>
          <a:p xmlns:a="http://schemas.openxmlformats.org/drawingml/2006/main">
            <a:r>
              <a:t/>
            </a:r>
          </a:p>
          <a:p xmlns:a="http://schemas.openxmlformats.org/drawingml/2006/main">
            <a:r>
              <a:t>C:/Users/User/source/cybersecurite/US-8/story.md</a:t>
            </a:r>
          </a:p>
          <a:p xmlns:a="http://schemas.openxmlformats.org/drawingml/2006/main">
            <a:r>
              <a:t/>
            </a:r>
          </a:p>
          <a:p xmlns:a="http://schemas.openxmlformats.org/drawingml/2006/main">
            <a:r>
              <a:t>C:/Users/User/source/cybersecurite/US-8/01-recherche-persistance.png</a:t>
            </a:r>
          </a:p>
          <a:p xmlns:a="http://schemas.openxmlformats.org/drawingml/2006/main">
            <a:r>
              <a:t/>
            </a:r>
          </a:p>
          <a:p xmlns:a="http://schemas.openxmlformats.org/drawingml/2006/main">
            <a:r>
              <a:t>C:/Users/User/source/cybersecurite/US-3/story.md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1,5 min. Démonstration comprise.</a:t>
            </a:r>
          </a:p>
          <a:p xmlns:a="http://schemas.openxmlformats.org/drawingml/2006/main">
            <a:r>
              <a:t/>
            </a:r>
          </a:p>
          <a:p xmlns:a="http://schemas.openxmlformats.org/drawingml/2006/main">
            <a:r>
              <a:t>Montrer la commande documentée : lsblk -o NAME,MODEL,SERIAL,VENDOR,TRAN. L'US 9 rapporte un support SanDisk Cruzer Micro, vu comme sda, avec le numéro de série 3514931B5ED0D062. Le nom sda peut changer et n'est pas un identifiant permanent. Recouper le numéro de série avec la sortie Get-PnpDevice de l'US 10. Windows donne aussi VID 0781 et PID 5151. Le tableau est une transcription de ces sources, pas une capture Linux. Les instances USB, USBSTOR et WPD montrent différentes couches du même support. Cette concordance identifie la clé étudiée sans prouver ce qu'elle contient ni qu'elle a transporté le malware.</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C:/Users/User/source/cybersecurite/US-9/story.md</a:t>
            </a:r>
          </a:p>
          <a:p xmlns:a="http://schemas.openxmlformats.org/drawingml/2006/main">
            <a:r>
              <a:t/>
            </a:r>
          </a:p>
          <a:p xmlns:a="http://schemas.openxmlformats.org/drawingml/2006/main">
            <a:r>
              <a:t>C:/Users/User/source/cybersecurite/US-10/story.md</a:t>
            </a:r>
          </a:p>
          <a:p xmlns:a="http://schemas.openxmlformats.org/drawingml/2006/main">
            <a:r>
              <a:t/>
            </a:r>
          </a:p>
          <a:p xmlns:a="http://schemas.openxmlformats.org/drawingml/2006/main">
            <a:r>
              <a:t>C:/Users/User/source/cybersecurite/US-10/01-historique-usb.png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2,5 min. Démonstration comprise.</a:t>
            </a:r>
          </a:p>
          <a:p xmlns:a="http://schemas.openxmlformats.org/drawingml/2006/main">
            <a:r>
              <a:t/>
            </a:r>
          </a:p>
          <a:p xmlns:a="http://schemas.openxmlformats.org/drawingml/2006/main">
            <a:r>
              <a:t>Montrer l'US 10 et la capture PowerShell. Get-PnpDevice filtre le numéro de série 3514931B5ED0D062, puis Get-PnpDeviceProperty extrait InstallDate, FirstInstallDate, LastArrivalDate et LastRemovalDate de l'instance USBSTOR. Les valeurs affichées sont toutes au 08/09/2026 : première installation et installation à 10:41:09, dernière arrivée à 11:43:58, dernier retrait à 11:51:42. L'écart entre les deux dernières valeurs est 7 min 44 s. Il ne mesure pas une durée d'utilisation active ou de copie. Le fuseau horaire n'apparaît pas dans la capture. Ce sont des propriétés de première et dernière occurrence, pas un journal exhaustif de toutes les connexions. Elles ne donnent ni les fichiers transférés ni un lien causal avec Env.exe ou Res.exe.</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C:/Users/User/source/cybersecurite/US-10/story.md</a:t>
            </a:r>
          </a:p>
          <a:p xmlns:a="http://schemas.openxmlformats.org/drawingml/2006/main">
            <a:r>
              <a:t/>
            </a:r>
          </a:p>
          <a:p xmlns:a="http://schemas.openxmlformats.org/drawingml/2006/main">
            <a:r>
              <a:t>C:/Users/User/source/cybersecurite/US-10/01-historique-usb.png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2,5 min. Démonstration comprise.</a:t>
            </a:r>
          </a:p>
          <a:p xmlns:a="http://schemas.openxmlformats.org/drawingml/2006/main">
            <a:r>
              <a:t/>
            </a:r>
          </a:p>
          <a:p xmlns:a="http://schemas.openxmlformats.org/drawingml/2006/main">
            <a:r>
              <a:t>Résumer les faits les plus solides : les frappes de test figurent dans log.txt, Res.exe est présent dans la mémoire et sur disque, et la même clé USB est identifiée avec des dates Windows. La configuration de lancement automatique et le démarrage rapporté conduisent à une piste de persistance dont l'emplacement précis reste à établir. Les prochaines vérifications prioritaires sont la ruche utilisateur NTUSER.DAT, une acquisition réseau adaptée et des traces de transferts USB si elles existent. Elles n'ont pas été réalisées dans les éléments présentés. Aucun lien de transport du malware par la clé ni aucune exfiltration n'est démontré. Conclure puis laisser la place aux questions. Les dossiers US et RAPPORT.md servent de références pendant l'échange.</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C:/Users/User/source/cybersecurite/RAPPORT.md</a:t>
            </a:r>
          </a:p>
          <a:p xmlns:a="http://schemas.openxmlformats.org/drawingml/2006/main">
            <a:r>
              <a:t/>
            </a:r>
          </a:p>
          <a:p xmlns:a="http://schemas.openxmlformats.org/drawingml/2006/main">
            <a:r>
              <a:t>C:/Users/User/source/cybersecurite/US-4/story.md</a:t>
            </a:r>
          </a:p>
          <a:p xmlns:a="http://schemas.openxmlformats.org/drawingml/2006/main">
            <a:r>
              <a:t/>
            </a:r>
          </a:p>
          <a:p xmlns:a="http://schemas.openxmlformats.org/drawingml/2006/main">
            <a:r>
              <a:t>C:/Users/User/source/cybersecurite/US-6/story.md</a:t>
            </a:r>
          </a:p>
          <a:p xmlns:a="http://schemas.openxmlformats.org/drawingml/2006/main">
            <a:r>
              <a:t/>
            </a:r>
          </a:p>
          <a:p xmlns:a="http://schemas.openxmlformats.org/drawingml/2006/main">
            <a:r>
              <a:t>C:/Users/User/source/cybersecurite/US-7/story.md</a:t>
            </a:r>
          </a:p>
          <a:p xmlns:a="http://schemas.openxmlformats.org/drawingml/2006/main">
            <a:r>
              <a:t/>
            </a:r>
          </a:p>
          <a:p xmlns:a="http://schemas.openxmlformats.org/drawingml/2006/main">
            <a:r>
              <a:t>C:/Users/User/source/cybersecurite/US-8/story.md</a:t>
            </a:r>
          </a:p>
          <a:p xmlns:a="http://schemas.openxmlformats.org/drawingml/2006/main">
            <a:r>
              <a:t/>
            </a:r>
          </a:p>
          <a:p xmlns:a="http://schemas.openxmlformats.org/drawingml/2006/main">
            <a:r>
              <a:t>C:/Users/User/source/cybersecurite/US-9/story.md</a:t>
            </a:r>
          </a:p>
          <a:p xmlns:a="http://schemas.openxmlformats.org/drawingml/2006/main">
            <a:r>
              <a:t/>
            </a:r>
          </a:p>
          <a:p xmlns:a="http://schemas.openxmlformats.org/drawingml/2006/main">
            <a:r>
              <a:t>C:/Users/User/source/cybersecurite/US-10/story.md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f8f36b86724c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92c8ba87f44b56" /><Relationship Type="http://schemas.openxmlformats.org/officeDocument/2006/relationships/slideLayout" Target="/ppt/slideLayouts/slideLayout1.xml" Id="Rfbd86f2034124c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d86f2034124c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622ee903594590" /><Relationship Type="http://schemas.openxmlformats.org/officeDocument/2006/relationships/notesSlide" Target="/ppt/notesSlides/notesSlide1.xml" Id="Rab537769ab9644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338ad931e8491c" /><Relationship Type="http://schemas.openxmlformats.org/officeDocument/2006/relationships/notesSlide" Target="/ppt/notesSlides/notesSlide2.xml" Id="R4987ce50cd134b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566348003f640f7" /><Relationship Type="http://schemas.openxmlformats.org/officeDocument/2006/relationships/notesSlide" Target="/ppt/notesSlides/notesSlide3.xml" Id="R0d0c97dff97d42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efd7c057024903" /><Relationship Type="http://schemas.openxmlformats.org/officeDocument/2006/relationships/image" Target="/ppt/media/image.png" Id="R2f1a961423f448be" /><Relationship Type="http://schemas.openxmlformats.org/officeDocument/2006/relationships/notesSlide" Target="/ppt/notesSlides/notesSlide4.xml" Id="R368d770e573c419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3c9b827fd824dd4" /><Relationship Type="http://schemas.openxmlformats.org/officeDocument/2006/relationships/notesSlide" Target="/ppt/notesSlides/notesSlide5.xml" Id="R574c2574a51548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42568092a245bc" /><Relationship Type="http://schemas.openxmlformats.org/officeDocument/2006/relationships/image" Target="/ppt/media/image2.png" Id="Rb748d10dfc284d10" /><Relationship Type="http://schemas.openxmlformats.org/officeDocument/2006/relationships/notesSlide" Target="/ppt/notesSlides/notesSlide6.xml" Id="Rfc7eabe96d0747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3cf824bc97c46f0" /><Relationship Type="http://schemas.openxmlformats.org/officeDocument/2006/relationships/notesSlide" Target="/ppt/notesSlides/notesSlide7.xml" Id="R1df5ab1f374c4d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1305be25b244671" /><Relationship Type="http://schemas.openxmlformats.org/officeDocument/2006/relationships/image" Target="/ppt/media/image3.png" Id="Rcc7581d75d12416e" /><Relationship Type="http://schemas.openxmlformats.org/officeDocument/2006/relationships/notesSlide" Target="/ppt/notesSlides/notesSlide8.xml" Id="R1a090144a55345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7ff4696ba7a4b1c" /><Relationship Type="http://schemas.openxmlformats.org/officeDocument/2006/relationships/image" Target="/ppt/media/image4.png" Id="R0007671ebeaa4b04" /><Relationship Type="http://schemas.openxmlformats.org/officeDocument/2006/relationships/notesSlide" Target="/ppt/notesSlides/notesSlide9.xml" Id="R759d077e89d248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9bd900bdc764c01" /><Relationship Type="http://schemas.openxmlformats.org/officeDocument/2006/relationships/image" Target="/ppt/media/image5.png" Id="Rd9b965be5d824a89" /><Relationship Type="http://schemas.openxmlformats.org/officeDocument/2006/relationships/image" Target="/ppt/media/image6.png" Id="R0006c4bd6e4e49b2" /><Relationship Type="http://schemas.openxmlformats.org/officeDocument/2006/relationships/notesSlide" Target="/ppt/notesSlides/notesSlide10.xml" Id="Rca115075805840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ed7897a4f0b4fe4" /><Relationship Type="http://schemas.openxmlformats.org/officeDocument/2006/relationships/image" Target="/ppt/media/image7.png" Id="Rbd115e380e9b41f1" /><Relationship Type="http://schemas.openxmlformats.org/officeDocument/2006/relationships/notesSlide" Target="/ppt/notesSlides/notesSlide11.xml" Id="R0ea455521ea846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8e09b71afc0426c" /><Relationship Type="http://schemas.openxmlformats.org/officeDocument/2006/relationships/notesSlide" Target="/ppt/notesSlides/notesSlide12.xml" Id="Rcd9f18de6b5c4e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03693bfb7564b35" /><Relationship Type="http://schemas.openxmlformats.org/officeDocument/2006/relationships/image" Target="/ppt/media/image8.png" Id="Redac57bfef8544e9" /><Relationship Type="http://schemas.openxmlformats.org/officeDocument/2006/relationships/notesSlide" Target="/ppt/notesSlides/notesSlide13.xml" Id="R9953420a3afa46e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acd040fea08493b" /><Relationship Type="http://schemas.openxmlformats.org/officeDocument/2006/relationships/notesSlide" Target="/ppt/notesSlides/notesSlide14.xml" Id="R2369253bdb974d5f" /></Relationships>
</file>

<file path=ppt/slides/slide1.xml><?xml version="1.0" encoding="utf-8"?>
<p:sld xmlns:p="http://schemas.openxmlformats.org/presentationml/2006/main">
  <p:cSld>
    <p:bg>
      <p:bgPr>
        <a:solidFill xmlns:a="http://schemas.openxmlformats.org/drawingml/2006/main">
          <a:srgbClr val="1C2224"/>
        </a:solidFill>
      </p:bgPr>
    </p:bg>
    <p:spTree>
      <p:nvGrpSpPr>
        <p:cNvPr id="1" name=""/>
        <p:cNvGrpSpPr/>
        <p:nvPr/>
      </p:nvGrpSpPr>
      <p:grpSpPr>
        <a:xfrm xmlns:a="http://schemas.openxmlformats.org/drawingml/2006/main"/>
      </p:grpSpPr>
      <p:sp>
        <p:nvSpPr>
          <p:cNvPr id="8" name="text-1-64-42">
            <a:extLst xmlns:a="http://schemas.openxmlformats.org/drawingml/2006/main">
              <a:ext uri="{FF2B5EF4-FFF2-40B4-BE49-F238E27FC236}">
                <a16:creationId xmlns:a16="http://schemas.microsoft.com/office/drawing/2014/main" id="{B8CBD2AE-89D3-4EC7-B224-3CE12696350F}"/>
              </a:ext>
            </a:extLst>
          </p:cNvPr>
          <p:cNvSpPr>
            <a:spLocks xmlns:a="http://schemas.openxmlformats.org/drawingml/2006/main" noGrp="1"/>
          </p:cNvSpPr>
          <p:nvPr/>
        </p:nvSpPr>
        <p:spPr>
          <a:xfrm xmlns:a="http://schemas.openxmlformats.org/drawingml/2006/main">
            <a:off x="609600" y="4000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ACDAD3"/>
                </a:solidFill>
                <a:latin typeface="Arial"/>
                <a:ea typeface="Arial"/>
                <a:cs typeface="Arial"/>
              </a:defRPr>
            </a:pPr>
            <a:r>
              <a:rPr sz="1425" b="1">
                <a:solidFill>
                  <a:srgbClr val="ACDAD3"/>
                </a:solidFill>
                <a:latin typeface="Arial"/>
                <a:ea typeface="Arial"/>
                <a:cs typeface="Arial"/>
              </a:rPr>
              <a:t>CYBERSÉCURITÉ</a:t>
            </a:r>
          </a:p>
        </p:txBody>
      </p:sp>
      <p:sp>
        <p:nvSpPr>
          <p:cNvPr id="2" name="text-1-1156-673">
            <a:extLst xmlns:a="http://schemas.openxmlformats.org/drawingml/2006/main">
              <a:ext uri="{FF2B5EF4-FFF2-40B4-BE49-F238E27FC236}">
                <a16:creationId xmlns:a16="http://schemas.microsoft.com/office/drawing/2014/main" id="{2AEAA404-23DF-45E5-B111-A920E3780AD4}"/>
              </a:ext>
            </a:extLst>
          </p:cNvPr>
          <p:cNvSpPr>
            <a:spLocks xmlns:a="http://schemas.openxmlformats.org/drawingml/2006/main" noGrp="1"/>
          </p:cNvSpPr>
          <p:nvPr/>
        </p:nvSpPr>
        <p:spPr>
          <a:xfrm xmlns:a="http://schemas.openxmlformats.org/drawingml/2006/main">
            <a:off x="110109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AEB8BA"/>
                </a:solidFill>
                <a:latin typeface="Arial"/>
                <a:ea typeface="Arial"/>
                <a:cs typeface="Arial"/>
              </a:defRPr>
            </a:pPr>
            <a:r>
              <a:rPr sz="1200">
                <a:solidFill>
                  <a:srgbClr val="AEB8BA"/>
                </a:solidFill>
                <a:latin typeface="Arial"/>
                <a:ea typeface="Arial"/>
                <a:cs typeface="Arial"/>
              </a:rPr>
              <a:t>01</a:t>
            </a:r>
          </a:p>
        </p:txBody>
      </p:sp>
      <p:sp>
        <p:nvSpPr>
          <p:cNvPr id="3" name="title">
            <a:extLst xmlns:a="http://schemas.openxmlformats.org/drawingml/2006/main">
              <a:ext uri="{FF2B5EF4-FFF2-40B4-BE49-F238E27FC236}">
                <a16:creationId xmlns:a16="http://schemas.microsoft.com/office/drawing/2014/main" id="{A17FDB3D-B8EA-486A-8376-21469BCA832B}"/>
              </a:ext>
            </a:extLst>
          </p:cNvPr>
          <p:cNvSpPr>
            <a:spLocks xmlns:a="http://schemas.openxmlformats.org/drawingml/2006/main" noGrp="1"/>
          </p:cNvSpPr>
          <p:nvPr/>
        </p:nvSpPr>
        <p:spPr>
          <a:xfrm xmlns:a="http://schemas.openxmlformats.org/drawingml/2006/main">
            <a:off x="609600" y="17907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Analyse de malware</a:t>
            </a:r>
          </a:p>
        </p:txBody>
      </p:sp>
      <p:sp>
        <p:nvSpPr>
          <p:cNvPr id="4" name="text-1-64-278">
            <a:extLst xmlns:a="http://schemas.openxmlformats.org/drawingml/2006/main">
              <a:ext uri="{FF2B5EF4-FFF2-40B4-BE49-F238E27FC236}">
                <a16:creationId xmlns:a16="http://schemas.microsoft.com/office/drawing/2014/main" id="{BB186CF7-7390-4CBF-B431-A4016EE50356}"/>
              </a:ext>
            </a:extLst>
          </p:cNvPr>
          <p:cNvSpPr>
            <a:spLocks xmlns:a="http://schemas.openxmlformats.org/drawingml/2006/main" noGrp="1"/>
          </p:cNvSpPr>
          <p:nvPr/>
        </p:nvSpPr>
        <p:spPr>
          <a:xfrm xmlns:a="http://schemas.openxmlformats.org/drawingml/2006/main">
            <a:off x="609600" y="2647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Investigation forensique</a:t>
            </a:r>
          </a:p>
        </p:txBody>
      </p:sp>
      <p:sp>
        <p:nvSpPr>
          <p:cNvPr id="5" name="text-1-64-421">
            <a:extLst xmlns:a="http://schemas.openxmlformats.org/drawingml/2006/main">
              <a:ext uri="{FF2B5EF4-FFF2-40B4-BE49-F238E27FC236}">
                <a16:creationId xmlns:a16="http://schemas.microsoft.com/office/drawing/2014/main" id="{F4E87B0A-09C1-41B1-A5CF-02DCA59D20A9}"/>
              </a:ext>
            </a:extLst>
          </p:cNvPr>
          <p:cNvSpPr>
            <a:spLocks xmlns:a="http://schemas.openxmlformats.org/drawingml/2006/main" noGrp="1"/>
          </p:cNvSpPr>
          <p:nvPr/>
        </p:nvSpPr>
        <p:spPr>
          <a:xfrm xmlns:a="http://schemas.openxmlformats.org/drawingml/2006/main">
            <a:off x="609600" y="4010025"/>
            <a:ext cx="857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ACDAD3"/>
                </a:solidFill>
                <a:latin typeface="Arial"/>
                <a:ea typeface="Arial"/>
                <a:cs typeface="Arial"/>
              </a:defRPr>
            </a:pPr>
            <a:r>
              <a:rPr sz="2400">
                <a:solidFill>
                  <a:srgbClr val="ACDAD3"/>
                </a:solidFill>
                <a:latin typeface="Arial"/>
                <a:ea typeface="Arial"/>
                <a:cs typeface="Arial"/>
              </a:rPr>
              <a:t>Env.exe et Res.exe</a:t>
            </a:r>
          </a:p>
        </p:txBody>
      </p:sp>
      <p:sp>
        <p:nvSpPr>
          <p:cNvPr id="6" name="">
            <a:extLst xmlns:a="http://schemas.openxmlformats.org/drawingml/2006/main">
              <a:ext uri="{FF2B5EF4-FFF2-40B4-BE49-F238E27FC236}">
                <a16:creationId xmlns:a16="http://schemas.microsoft.com/office/drawing/2014/main" id="{0561A786-EDA4-491E-B413-6041F831CEBC}"/>
              </a:ext>
            </a:extLst>
          </p:cNvPr>
          <p:cNvSpPr>
            <a:spLocks xmlns:a="http://schemas.openxmlformats.org/drawingml/2006/main" noGrp="1"/>
          </p:cNvSpPr>
          <p:nvPr/>
        </p:nvSpPr>
        <p:spPr>
          <a:xfrm xmlns:a="http://schemas.openxmlformats.org/drawingml/2006/main">
            <a:off x="609600" y="5334000"/>
            <a:ext cx="10972800" cy="9525"/>
          </a:xfrm>
          <a:prstGeom xmlns:a="http://schemas.openxmlformats.org/drawingml/2006/main" prst="rect">
            <a:avLst/>
          </a:prstGeom>
          <a:solidFill xmlns:a="http://schemas.openxmlformats.org/drawingml/2006/main">
            <a:srgbClr val="495355"/>
          </a:solidFill>
          <a:ln xmlns:a="http://schemas.openxmlformats.org/drawingml/2006/main" w="0">
            <a:noFill/>
          </a:ln>
        </p:spPr>
      </p:sp>
      <p:sp>
        <p:nvSpPr>
          <p:cNvPr id="7" name="text-1-64-588">
            <a:extLst xmlns:a="http://schemas.openxmlformats.org/drawingml/2006/main">
              <a:ext uri="{FF2B5EF4-FFF2-40B4-BE49-F238E27FC236}">
                <a16:creationId xmlns:a16="http://schemas.microsoft.com/office/drawing/2014/main" id="{E8141018-3C59-4306-93FE-E680AE814A4A}"/>
              </a:ext>
            </a:extLst>
          </p:cNvPr>
          <p:cNvSpPr>
            <a:spLocks xmlns:a="http://schemas.openxmlformats.org/drawingml/2006/main" noGrp="1"/>
          </p:cNvSpPr>
          <p:nvPr/>
        </p:nvSpPr>
        <p:spPr>
          <a:xfrm xmlns:a="http://schemas.openxmlformats.org/drawingml/2006/main">
            <a:off x="609600" y="560070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a:solidFill>
                  <a:srgbClr val="CDD5D6"/>
                </a:solidFill>
                <a:latin typeface="Arial"/>
                <a:ea typeface="Arial"/>
                <a:cs typeface="Arial"/>
              </a:defRPr>
            </a:pPr>
            <a:r>
              <a:rPr sz="1950">
                <a:solidFill>
                  <a:srgbClr val="CDD5D6"/>
                </a:solidFill>
                <a:latin typeface="Arial"/>
                <a:ea typeface="Arial"/>
                <a:cs typeface="Arial"/>
              </a:rPr>
              <a:t>Mémoire, disque et traces USB</a:t>
            </a:r>
          </a:p>
        </p:txBody>
      </p:sp>
    </p:spTree>
    <p:extLst>
      <p:ext uri="{BB962C8B-B14F-4D97-AF65-F5344CB8AC3E}">
        <p14:creationId xmlns:p14="http://schemas.microsoft.com/office/powerpoint/2010/main" val="1140577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2-64-42">
            <a:extLst xmlns:a="http://schemas.openxmlformats.org/drawingml/2006/main">
              <a:ext uri="{FF2B5EF4-FFF2-40B4-BE49-F238E27FC236}">
                <a16:creationId xmlns:a16="http://schemas.microsoft.com/office/drawing/2014/main" id="{E1BFA11F-1A90-432C-B37F-94D9111EBC32}"/>
              </a:ext>
            </a:extLst>
          </p:cNvPr>
          <p:cNvSpPr>
            <a:spLocks xmlns:a="http://schemas.openxmlformats.org/drawingml/2006/main" noGrp="1"/>
          </p:cNvSpPr>
          <p:nvPr/>
        </p:nvSpPr>
        <p:spPr>
          <a:xfrm xmlns:a="http://schemas.openxmlformats.org/drawingml/2006/main">
            <a:off x="609600" y="4000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87D78"/>
                </a:solidFill>
                <a:latin typeface="Arial"/>
                <a:ea typeface="Arial"/>
                <a:cs typeface="Arial"/>
              </a:defRPr>
            </a:pPr>
            <a:r>
              <a:rPr sz="1425" b="1">
                <a:solidFill>
                  <a:srgbClr val="087D78"/>
                </a:solidFill>
                <a:latin typeface="Arial"/>
                <a:ea typeface="Arial"/>
                <a:cs typeface="Arial"/>
              </a:rPr>
              <a:t>PÉRIMÈTRE</a:t>
            </a:r>
          </a:p>
        </p:txBody>
      </p:sp>
      <p:sp>
        <p:nvSpPr>
          <p:cNvPr id="2" name="title">
            <a:extLst xmlns:a="http://schemas.openxmlformats.org/drawingml/2006/main">
              <a:ext uri="{FF2B5EF4-FFF2-40B4-BE49-F238E27FC236}">
                <a16:creationId xmlns:a16="http://schemas.microsoft.com/office/drawing/2014/main" id="{3E411D90-E77E-4BB2-98B2-B4037E30DD02}"/>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2527"/>
                </a:solidFill>
                <a:latin typeface="Arial"/>
                <a:ea typeface="Arial"/>
                <a:cs typeface="Arial"/>
              </a:defRPr>
            </a:pPr>
            <a:r>
              <a:rPr sz="3300" b="1">
                <a:solidFill>
                  <a:srgbClr val="202527"/>
                </a:solidFill>
                <a:latin typeface="Arial"/>
                <a:ea typeface="Arial"/>
                <a:cs typeface="Arial"/>
              </a:rPr>
              <a:t>Trois volets d'investigation</a:t>
            </a:r>
          </a:p>
        </p:txBody>
      </p:sp>
      <p:sp>
        <p:nvSpPr>
          <p:cNvPr id="3" name="text-2-1156-673">
            <a:extLst xmlns:a="http://schemas.openxmlformats.org/drawingml/2006/main">
              <a:ext uri="{FF2B5EF4-FFF2-40B4-BE49-F238E27FC236}">
                <a16:creationId xmlns:a16="http://schemas.microsoft.com/office/drawing/2014/main" id="{A591774A-036A-4978-83F2-F70144C50950}"/>
              </a:ext>
            </a:extLst>
          </p:cNvPr>
          <p:cNvSpPr>
            <a:spLocks xmlns:a="http://schemas.openxmlformats.org/drawingml/2006/main" noGrp="1"/>
          </p:cNvSpPr>
          <p:nvPr/>
        </p:nvSpPr>
        <p:spPr>
          <a:xfrm xmlns:a="http://schemas.openxmlformats.org/drawingml/2006/main">
            <a:off x="110109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60686C"/>
                </a:solidFill>
                <a:latin typeface="Arial"/>
                <a:ea typeface="Arial"/>
                <a:cs typeface="Arial"/>
              </a:defRPr>
            </a:pPr>
            <a:r>
              <a:rPr sz="1200">
                <a:solidFill>
                  <a:srgbClr val="60686C"/>
                </a:solidFill>
                <a:latin typeface="Arial"/>
                <a:ea typeface="Arial"/>
                <a:cs typeface="Arial"/>
              </a:rPr>
              <a:t>02</a:t>
            </a:r>
          </a:p>
        </p:txBody>
      </p:sp>
      <p:sp>
        <p:nvSpPr>
          <p:cNvPr id="4" name="text-2-64-214">
            <a:extLst xmlns:a="http://schemas.openxmlformats.org/drawingml/2006/main">
              <a:ext uri="{FF2B5EF4-FFF2-40B4-BE49-F238E27FC236}">
                <a16:creationId xmlns:a16="http://schemas.microsoft.com/office/drawing/2014/main" id="{AC227C25-71F5-49EA-AA6F-DDC45E3BFE53}"/>
              </a:ext>
            </a:extLst>
          </p:cNvPr>
          <p:cNvSpPr>
            <a:spLocks xmlns:a="http://schemas.openxmlformats.org/drawingml/2006/main" noGrp="1"/>
          </p:cNvSpPr>
          <p:nvPr/>
        </p:nvSpPr>
        <p:spPr>
          <a:xfrm xmlns:a="http://schemas.openxmlformats.org/drawingml/2006/main">
            <a:off x="609600" y="2038350"/>
            <a:ext cx="1571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87D78"/>
                </a:solidFill>
                <a:latin typeface="Arial"/>
                <a:ea typeface="Arial"/>
                <a:cs typeface="Arial"/>
              </a:defRPr>
            </a:pPr>
            <a:r>
              <a:rPr sz="1950" b="1">
                <a:solidFill>
                  <a:srgbClr val="087D78"/>
                </a:solidFill>
                <a:latin typeface="Arial"/>
                <a:ea typeface="Arial"/>
                <a:cs typeface="Arial"/>
              </a:rPr>
              <a:t>US 1–5</a:t>
            </a:r>
          </a:p>
        </p:txBody>
      </p:sp>
      <p:sp>
        <p:nvSpPr>
          <p:cNvPr id="5" name="text-2-272-210">
            <a:extLst xmlns:a="http://schemas.openxmlformats.org/drawingml/2006/main">
              <a:ext uri="{FF2B5EF4-FFF2-40B4-BE49-F238E27FC236}">
                <a16:creationId xmlns:a16="http://schemas.microsoft.com/office/drawing/2014/main" id="{8ED67C99-45BB-4EAC-A9C5-BD011389394D}"/>
              </a:ext>
            </a:extLst>
          </p:cNvPr>
          <p:cNvSpPr>
            <a:spLocks xmlns:a="http://schemas.openxmlformats.org/drawingml/2006/main" noGrp="1"/>
          </p:cNvSpPr>
          <p:nvPr/>
        </p:nvSpPr>
        <p:spPr>
          <a:xfrm xmlns:a="http://schemas.openxmlformats.org/drawingml/2006/main">
            <a:off x="2590800" y="200025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2527"/>
                </a:solidFill>
                <a:latin typeface="Arial"/>
                <a:ea typeface="Arial"/>
                <a:cs typeface="Arial"/>
              </a:defRPr>
            </a:pPr>
            <a:r>
              <a:rPr sz="2550" b="1">
                <a:solidFill>
                  <a:srgbClr val="202527"/>
                </a:solidFill>
                <a:latin typeface="Arial"/>
                <a:ea typeface="Arial"/>
                <a:cs typeface="Arial"/>
              </a:rPr>
              <a:t>Comportement du malware</a:t>
            </a:r>
          </a:p>
        </p:txBody>
      </p:sp>
      <p:sp>
        <p:nvSpPr>
          <p:cNvPr id="6" name="text-2-272-259">
            <a:extLst xmlns:a="http://schemas.openxmlformats.org/drawingml/2006/main">
              <a:ext uri="{FF2B5EF4-FFF2-40B4-BE49-F238E27FC236}">
                <a16:creationId xmlns:a16="http://schemas.microsoft.com/office/drawing/2014/main" id="{36356710-8697-4F2E-9A1A-22F0C25299C8}"/>
              </a:ext>
            </a:extLst>
          </p:cNvPr>
          <p:cNvSpPr>
            <a:spLocks xmlns:a="http://schemas.openxmlformats.org/drawingml/2006/main" noGrp="1"/>
          </p:cNvSpPr>
          <p:nvPr/>
        </p:nvSpPr>
        <p:spPr>
          <a:xfrm xmlns:a="http://schemas.openxmlformats.org/drawingml/2006/main">
            <a:off x="2590800" y="2466975"/>
            <a:ext cx="857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a:solidFill>
                  <a:srgbClr val="60686C"/>
                </a:solidFill>
                <a:latin typeface="Arial"/>
                <a:ea typeface="Arial"/>
                <a:cs typeface="Arial"/>
              </a:defRPr>
            </a:pPr>
            <a:r>
              <a:rPr sz="1875">
                <a:solidFill>
                  <a:srgbClr val="60686C"/>
                </a:solidFill>
                <a:latin typeface="Arial"/>
                <a:ea typeface="Arial"/>
                <a:cs typeface="Arial"/>
              </a:rPr>
              <a:t>Du laboratoire au risque</a:t>
            </a:r>
          </a:p>
        </p:txBody>
      </p:sp>
      <p:sp>
        <p:nvSpPr>
          <p:cNvPr id="7" name="">
            <a:extLst xmlns:a="http://schemas.openxmlformats.org/drawingml/2006/main">
              <a:ext uri="{FF2B5EF4-FFF2-40B4-BE49-F238E27FC236}">
                <a16:creationId xmlns:a16="http://schemas.microsoft.com/office/drawing/2014/main" id="{4BEC6C1C-6795-4868-A387-61BBAC170F1F}"/>
              </a:ext>
            </a:extLst>
          </p:cNvPr>
          <p:cNvSpPr>
            <a:spLocks xmlns:a="http://schemas.openxmlformats.org/drawingml/2006/main" noGrp="1"/>
          </p:cNvSpPr>
          <p:nvPr/>
        </p:nvSpPr>
        <p:spPr>
          <a:xfrm xmlns:a="http://schemas.openxmlformats.org/drawingml/2006/main">
            <a:off x="609600" y="3028950"/>
            <a:ext cx="10972800" cy="9525"/>
          </a:xfrm>
          <a:prstGeom xmlns:a="http://schemas.openxmlformats.org/drawingml/2006/main" prst="rect">
            <a:avLst/>
          </a:prstGeom>
          <a:solidFill xmlns:a="http://schemas.openxmlformats.org/drawingml/2006/main">
            <a:srgbClr val="DCE2E1"/>
          </a:solidFill>
          <a:ln xmlns:a="http://schemas.openxmlformats.org/drawingml/2006/main" w="0">
            <a:noFill/>
          </a:ln>
        </p:spPr>
      </p:sp>
      <p:sp>
        <p:nvSpPr>
          <p:cNvPr id="8" name="text-2-64-349">
            <a:extLst xmlns:a="http://schemas.openxmlformats.org/drawingml/2006/main">
              <a:ext uri="{FF2B5EF4-FFF2-40B4-BE49-F238E27FC236}">
                <a16:creationId xmlns:a16="http://schemas.microsoft.com/office/drawing/2014/main" id="{EAC1ED68-9F79-46C1-8689-F6B1776AB1EE}"/>
              </a:ext>
            </a:extLst>
          </p:cNvPr>
          <p:cNvSpPr>
            <a:spLocks xmlns:a="http://schemas.openxmlformats.org/drawingml/2006/main" noGrp="1"/>
          </p:cNvSpPr>
          <p:nvPr/>
        </p:nvSpPr>
        <p:spPr>
          <a:xfrm xmlns:a="http://schemas.openxmlformats.org/drawingml/2006/main">
            <a:off x="609600" y="3324225"/>
            <a:ext cx="1571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87D78"/>
                </a:solidFill>
                <a:latin typeface="Arial"/>
                <a:ea typeface="Arial"/>
                <a:cs typeface="Arial"/>
              </a:defRPr>
            </a:pPr>
            <a:r>
              <a:rPr sz="1950" b="1">
                <a:solidFill>
                  <a:srgbClr val="087D78"/>
                </a:solidFill>
                <a:latin typeface="Arial"/>
                <a:ea typeface="Arial"/>
                <a:cs typeface="Arial"/>
              </a:rPr>
              <a:t>US 6–8</a:t>
            </a:r>
          </a:p>
        </p:txBody>
      </p:sp>
      <p:sp>
        <p:nvSpPr>
          <p:cNvPr id="9" name="text-2-272-345">
            <a:extLst xmlns:a="http://schemas.openxmlformats.org/drawingml/2006/main">
              <a:ext uri="{FF2B5EF4-FFF2-40B4-BE49-F238E27FC236}">
                <a16:creationId xmlns:a16="http://schemas.microsoft.com/office/drawing/2014/main" id="{824D750B-1C7D-4340-9B22-07FC4BC0543C}"/>
              </a:ext>
            </a:extLst>
          </p:cNvPr>
          <p:cNvSpPr>
            <a:spLocks xmlns:a="http://schemas.openxmlformats.org/drawingml/2006/main" noGrp="1"/>
          </p:cNvSpPr>
          <p:nvPr/>
        </p:nvSpPr>
        <p:spPr>
          <a:xfrm xmlns:a="http://schemas.openxmlformats.org/drawingml/2006/main">
            <a:off x="2590800" y="3286125"/>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2527"/>
                </a:solidFill>
                <a:latin typeface="Arial"/>
                <a:ea typeface="Arial"/>
                <a:cs typeface="Arial"/>
              </a:defRPr>
            </a:pPr>
            <a:r>
              <a:rPr sz="2550" b="1">
                <a:solidFill>
                  <a:srgbClr val="202527"/>
                </a:solidFill>
                <a:latin typeface="Arial"/>
                <a:ea typeface="Arial"/>
                <a:cs typeface="Arial"/>
              </a:rPr>
              <a:t>Preuves mémoire et disque</a:t>
            </a:r>
          </a:p>
        </p:txBody>
      </p:sp>
      <p:sp>
        <p:nvSpPr>
          <p:cNvPr id="10" name="text-2-272-394">
            <a:extLst xmlns:a="http://schemas.openxmlformats.org/drawingml/2006/main">
              <a:ext uri="{FF2B5EF4-FFF2-40B4-BE49-F238E27FC236}">
                <a16:creationId xmlns:a16="http://schemas.microsoft.com/office/drawing/2014/main" id="{6F8E02C5-9388-4A1E-8033-C53D3C9A06D1}"/>
              </a:ext>
            </a:extLst>
          </p:cNvPr>
          <p:cNvSpPr>
            <a:spLocks xmlns:a="http://schemas.openxmlformats.org/drawingml/2006/main" noGrp="1"/>
          </p:cNvSpPr>
          <p:nvPr/>
        </p:nvSpPr>
        <p:spPr>
          <a:xfrm xmlns:a="http://schemas.openxmlformats.org/drawingml/2006/main">
            <a:off x="2590800" y="3752850"/>
            <a:ext cx="857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a:solidFill>
                  <a:srgbClr val="60686C"/>
                </a:solidFill>
                <a:latin typeface="Arial"/>
                <a:ea typeface="Arial"/>
                <a:cs typeface="Arial"/>
              </a:defRPr>
            </a:pPr>
            <a:r>
              <a:rPr sz="1875">
                <a:solidFill>
                  <a:srgbClr val="60686C"/>
                </a:solidFill>
                <a:latin typeface="Arial"/>
                <a:ea typeface="Arial"/>
                <a:cs typeface="Arial"/>
              </a:rPr>
              <a:t>Acquisition et recoupement</a:t>
            </a:r>
          </a:p>
        </p:txBody>
      </p:sp>
      <p:sp>
        <p:nvSpPr>
          <p:cNvPr id="11" name="">
            <a:extLst xmlns:a="http://schemas.openxmlformats.org/drawingml/2006/main">
              <a:ext uri="{FF2B5EF4-FFF2-40B4-BE49-F238E27FC236}">
                <a16:creationId xmlns:a16="http://schemas.microsoft.com/office/drawing/2014/main" id="{245E7934-31C5-4B16-ABB5-3B94C012FEB4}"/>
              </a:ext>
            </a:extLst>
          </p:cNvPr>
          <p:cNvSpPr>
            <a:spLocks xmlns:a="http://schemas.openxmlformats.org/drawingml/2006/main" noGrp="1"/>
          </p:cNvSpPr>
          <p:nvPr/>
        </p:nvSpPr>
        <p:spPr>
          <a:xfrm xmlns:a="http://schemas.openxmlformats.org/drawingml/2006/main">
            <a:off x="609600" y="4314825"/>
            <a:ext cx="10972800" cy="9525"/>
          </a:xfrm>
          <a:prstGeom xmlns:a="http://schemas.openxmlformats.org/drawingml/2006/main" prst="rect">
            <a:avLst/>
          </a:prstGeom>
          <a:solidFill xmlns:a="http://schemas.openxmlformats.org/drawingml/2006/main">
            <a:srgbClr val="DCE2E1"/>
          </a:solidFill>
          <a:ln xmlns:a="http://schemas.openxmlformats.org/drawingml/2006/main" w="0">
            <a:noFill/>
          </a:ln>
        </p:spPr>
      </p:sp>
      <p:sp>
        <p:nvSpPr>
          <p:cNvPr id="12" name="text-2-64-484">
            <a:extLst xmlns:a="http://schemas.openxmlformats.org/drawingml/2006/main">
              <a:ext uri="{FF2B5EF4-FFF2-40B4-BE49-F238E27FC236}">
                <a16:creationId xmlns:a16="http://schemas.microsoft.com/office/drawing/2014/main" id="{0C303987-D917-4280-BA2B-609CB0DA5CC6}"/>
              </a:ext>
            </a:extLst>
          </p:cNvPr>
          <p:cNvSpPr>
            <a:spLocks xmlns:a="http://schemas.openxmlformats.org/drawingml/2006/main" noGrp="1"/>
          </p:cNvSpPr>
          <p:nvPr/>
        </p:nvSpPr>
        <p:spPr>
          <a:xfrm xmlns:a="http://schemas.openxmlformats.org/drawingml/2006/main">
            <a:off x="609600" y="4610100"/>
            <a:ext cx="1571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87D78"/>
                </a:solidFill>
                <a:latin typeface="Arial"/>
                <a:ea typeface="Arial"/>
                <a:cs typeface="Arial"/>
              </a:defRPr>
            </a:pPr>
            <a:r>
              <a:rPr sz="1950" b="1">
                <a:solidFill>
                  <a:srgbClr val="087D78"/>
                </a:solidFill>
                <a:latin typeface="Arial"/>
                <a:ea typeface="Arial"/>
                <a:cs typeface="Arial"/>
              </a:rPr>
              <a:t>US 9–10</a:t>
            </a:r>
          </a:p>
        </p:txBody>
      </p:sp>
      <p:sp>
        <p:nvSpPr>
          <p:cNvPr id="13" name="text-2-272-480">
            <a:extLst xmlns:a="http://schemas.openxmlformats.org/drawingml/2006/main">
              <a:ext uri="{FF2B5EF4-FFF2-40B4-BE49-F238E27FC236}">
                <a16:creationId xmlns:a16="http://schemas.microsoft.com/office/drawing/2014/main" id="{0B529E5E-18AC-405E-9A39-B3220E2C0A8D}"/>
              </a:ext>
            </a:extLst>
          </p:cNvPr>
          <p:cNvSpPr>
            <a:spLocks xmlns:a="http://schemas.openxmlformats.org/drawingml/2006/main" noGrp="1"/>
          </p:cNvSpPr>
          <p:nvPr/>
        </p:nvSpPr>
        <p:spPr>
          <a:xfrm xmlns:a="http://schemas.openxmlformats.org/drawingml/2006/main">
            <a:off x="2590800" y="4572000"/>
            <a:ext cx="857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2527"/>
                </a:solidFill>
                <a:latin typeface="Arial"/>
                <a:ea typeface="Arial"/>
                <a:cs typeface="Arial"/>
              </a:defRPr>
            </a:pPr>
            <a:r>
              <a:rPr sz="2550" b="1">
                <a:solidFill>
                  <a:srgbClr val="202527"/>
                </a:solidFill>
                <a:latin typeface="Arial"/>
                <a:ea typeface="Arial"/>
                <a:cs typeface="Arial"/>
              </a:rPr>
              <a:t>Identification de la clé USB</a:t>
            </a:r>
          </a:p>
        </p:txBody>
      </p:sp>
      <p:sp>
        <p:nvSpPr>
          <p:cNvPr id="14" name="text-2-272-529">
            <a:extLst xmlns:a="http://schemas.openxmlformats.org/drawingml/2006/main">
              <a:ext uri="{FF2B5EF4-FFF2-40B4-BE49-F238E27FC236}">
                <a16:creationId xmlns:a16="http://schemas.microsoft.com/office/drawing/2014/main" id="{D11BD62A-ECEA-46F3-9597-DC99B0E1425A}"/>
              </a:ext>
            </a:extLst>
          </p:cNvPr>
          <p:cNvSpPr>
            <a:spLocks xmlns:a="http://schemas.openxmlformats.org/drawingml/2006/main" noGrp="1"/>
          </p:cNvSpPr>
          <p:nvPr/>
        </p:nvSpPr>
        <p:spPr>
          <a:xfrm xmlns:a="http://schemas.openxmlformats.org/drawingml/2006/main">
            <a:off x="2590800" y="5038725"/>
            <a:ext cx="857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a:solidFill>
                  <a:srgbClr val="60686C"/>
                </a:solidFill>
                <a:latin typeface="Arial"/>
                <a:ea typeface="Arial"/>
                <a:cs typeface="Arial"/>
              </a:defRPr>
            </a:pPr>
            <a:r>
              <a:rPr sz="1875">
                <a:solidFill>
                  <a:srgbClr val="60686C"/>
                </a:solidFill>
                <a:latin typeface="Arial"/>
                <a:ea typeface="Arial"/>
                <a:cs typeface="Arial"/>
              </a:rPr>
              <a:t>Numéro de série et dates Windows</a:t>
            </a:r>
          </a:p>
        </p:txBody>
      </p:sp>
    </p:spTree>
    <p:extLst>
      <p:ext uri="{BB962C8B-B14F-4D97-AF65-F5344CB8AC3E}">
        <p14:creationId xmlns:p14="http://schemas.microsoft.com/office/powerpoint/2010/main" val="795000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3-64-42">
            <a:extLst xmlns:a="http://schemas.openxmlformats.org/drawingml/2006/main">
              <a:ext uri="{FF2B5EF4-FFF2-40B4-BE49-F238E27FC236}">
                <a16:creationId xmlns:a16="http://schemas.microsoft.com/office/drawing/2014/main" id="{BE454CDE-F8F9-4BD4-A953-790159504EA7}"/>
              </a:ext>
            </a:extLst>
          </p:cNvPr>
          <p:cNvSpPr>
            <a:spLocks xmlns:a="http://schemas.openxmlformats.org/drawingml/2006/main" noGrp="1"/>
          </p:cNvSpPr>
          <p:nvPr/>
        </p:nvSpPr>
        <p:spPr>
          <a:xfrm xmlns:a="http://schemas.openxmlformats.org/drawingml/2006/main">
            <a:off x="609600" y="4000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87D78"/>
                </a:solidFill>
                <a:latin typeface="Arial"/>
                <a:ea typeface="Arial"/>
                <a:cs typeface="Arial"/>
              </a:defRPr>
            </a:pPr>
            <a:r>
              <a:rPr sz="1425" b="1">
                <a:solidFill>
                  <a:srgbClr val="087D78"/>
                </a:solidFill>
                <a:latin typeface="Arial"/>
                <a:ea typeface="Arial"/>
                <a:cs typeface="Arial"/>
              </a:rPr>
              <a:t>US 1</a:t>
            </a:r>
          </a:p>
        </p:txBody>
      </p:sp>
      <p:sp>
        <p:nvSpPr>
          <p:cNvPr id="2" name="title">
            <a:extLst xmlns:a="http://schemas.openxmlformats.org/drawingml/2006/main">
              <a:ext uri="{FF2B5EF4-FFF2-40B4-BE49-F238E27FC236}">
                <a16:creationId xmlns:a16="http://schemas.microsoft.com/office/drawing/2014/main" id="{5F1D075C-B543-4767-97BF-5B309C72983C}"/>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2527"/>
                </a:solidFill>
                <a:latin typeface="Arial"/>
                <a:ea typeface="Arial"/>
                <a:cs typeface="Arial"/>
              </a:defRPr>
            </a:pPr>
            <a:r>
              <a:rPr sz="3300" b="1">
                <a:solidFill>
                  <a:srgbClr val="202527"/>
                </a:solidFill>
                <a:latin typeface="Arial"/>
                <a:ea typeface="Arial"/>
                <a:cs typeface="Arial"/>
              </a:rPr>
              <a:t>Le laboratoire d'analyse</a:t>
            </a:r>
          </a:p>
        </p:txBody>
      </p:sp>
      <p:sp>
        <p:nvSpPr>
          <p:cNvPr id="3" name="text-3-1156-673">
            <a:extLst xmlns:a="http://schemas.openxmlformats.org/drawingml/2006/main">
              <a:ext uri="{FF2B5EF4-FFF2-40B4-BE49-F238E27FC236}">
                <a16:creationId xmlns:a16="http://schemas.microsoft.com/office/drawing/2014/main" id="{FE7F2397-A0EB-4838-967E-5B2598F66647}"/>
              </a:ext>
            </a:extLst>
          </p:cNvPr>
          <p:cNvSpPr>
            <a:spLocks xmlns:a="http://schemas.openxmlformats.org/drawingml/2006/main" noGrp="1"/>
          </p:cNvSpPr>
          <p:nvPr/>
        </p:nvSpPr>
        <p:spPr>
          <a:xfrm xmlns:a="http://schemas.openxmlformats.org/drawingml/2006/main">
            <a:off x="110109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60686C"/>
                </a:solidFill>
                <a:latin typeface="Arial"/>
                <a:ea typeface="Arial"/>
                <a:cs typeface="Arial"/>
              </a:defRPr>
            </a:pPr>
            <a:r>
              <a:rPr sz="1200">
                <a:solidFill>
                  <a:srgbClr val="60686C"/>
                </a:solidFill>
                <a:latin typeface="Arial"/>
                <a:ea typeface="Arial"/>
                <a:cs typeface="Arial"/>
              </a:rPr>
              <a:t>03</a:t>
            </a:r>
          </a:p>
        </p:txBody>
      </p:sp>
      <p:graphicFrame>
        <p:nvGraphicFramePr>
          <p:cNvPr id="9" name=""/>
          <p:cNvGraphicFramePr/>
          <p:nvPr/>
        </p:nvGraphicFramePr>
        <p:xfrm>
          <a:off xmlns:a="http://schemas.openxmlformats.org/drawingml/2006/main" x="609600" y="1933575"/>
          <a:ext xmlns:a="http://schemas.openxmlformats.org/drawingml/2006/main" cx="10972800" cy="2266950"/>
        </p:xfrm>
        <a:graphic xmlns:a="http://schemas.openxmlformats.org/drawingml/2006/main">
          <a:graphicData uri="http://schemas.openxmlformats.org/drawingml/2006/table">
            <a:tbl>
              <a:tblPr firstRow="1" bandRow="0"/>
              <a:tblGrid>
                <a:gridCol w="4143375"/>
                <a:gridCol w="6829425"/>
              </a:tblGrid>
              <a:tr h="590550">
                <a:tc>
                  <a:txBody>
                    <a:bodyPr/>
                    <a:lstStyle/>
                    <a:p>
                      <a:r>
                        <a:rPr sz="2025" b="1">
                          <a:solidFill>
                            <a:srgbClr val="087D78"/>
                          </a:solidFill>
                          <a:latin typeface="Arial"/>
                          <a:ea typeface="Arial"/>
                          <a:cs typeface="Arial"/>
                        </a:rPr>
                        <a:t>Usage</a:t>
                      </a:r>
                    </a:p>
                  </a:txBody>
                  <a:tcPr marL="171450" marR="152400" marT="133350" marB="114300" anchor="ctr">
                    <a:solidFill>
                      <a:srgbClr val="EFF5F3"/>
                    </a:solidFill>
                  </a:tcPr>
                </a:tc>
                <a:tc>
                  <a:txBody>
                    <a:bodyPr/>
                    <a:lstStyle/>
                    <a:p>
                      <a:r>
                        <a:rPr sz="2025" b="1">
                          <a:solidFill>
                            <a:srgbClr val="087D78"/>
                          </a:solidFill>
                          <a:latin typeface="Arial"/>
                          <a:ea typeface="Arial"/>
                          <a:cs typeface="Arial"/>
                        </a:rPr>
                        <a:t>Environnement du dossier</a:t>
                      </a:r>
                    </a:p>
                  </a:txBody>
                  <a:tcPr marL="171450" marR="152400" marT="133350" marB="114300" anchor="ctr">
                    <a:solidFill>
                      <a:srgbClr val="EFF5F3"/>
                    </a:solidFill>
                  </a:tcPr>
                </a:tc>
              </a:tr>
              <a:tr h="838200">
                <a:tc>
                  <a:txBody>
                    <a:bodyPr/>
                    <a:lstStyle/>
                    <a:p>
                      <a:r>
                        <a:rPr sz="2025">
                          <a:solidFill>
                            <a:srgbClr val="202527"/>
                          </a:solidFill>
                          <a:latin typeface="Arial"/>
                          <a:ea typeface="Arial"/>
                          <a:cs typeface="Arial"/>
                        </a:rPr>
                        <a:t>Laboratoire initial</a:t>
                      </a:r>
                    </a:p>
                  </a:txBody>
                  <a:tcPr marL="171450" marR="152400" marT="133350" marB="114300" anchor="ctr">
                    <a:solidFill>
                      <a:srgbClr val="FFFFFF"/>
                    </a:solidFill>
                  </a:tcPr>
                </a:tc>
                <a:tc>
                  <a:txBody>
                    <a:bodyPr/>
                    <a:lstStyle/>
                    <a:p>
                      <a:r>
                        <a:rPr sz="2025">
                          <a:solidFill>
                            <a:srgbClr val="202527"/>
                          </a:solidFill>
                          <a:latin typeface="Arial"/>
                          <a:ea typeface="Arial"/>
                          <a:cs typeface="Arial"/>
                        </a:rPr>
                        <a:t>Windows 11 sur UTM</a:t>
                      </a:r>
                    </a:p>
                  </a:txBody>
                  <a:tcPr marL="171450" marR="152400" marT="133350" marB="114300" anchor="ctr">
                    <a:solidFill>
                      <a:srgbClr val="FFFFFF"/>
                    </a:solidFill>
                  </a:tcPr>
                </a:tc>
              </a:tr>
              <a:tr h="838200">
                <a:tc>
                  <a:txBody>
                    <a:bodyPr/>
                    <a:lstStyle/>
                    <a:p>
                      <a:r>
                        <a:rPr sz="2025">
                          <a:solidFill>
                            <a:srgbClr val="202527"/>
                          </a:solidFill>
                          <a:latin typeface="Arial"/>
                          <a:ea typeface="Arial"/>
                          <a:cs typeface="Arial"/>
                        </a:rPr>
                        <a:t>Acquisition RAM et disque</a:t>
                      </a:r>
                    </a:p>
                  </a:txBody>
                  <a:tcPr marL="171450" marR="152400" marT="133350" marB="114300" anchor="ctr">
                    <a:solidFill>
                      <a:srgbClr val="FFFFFF"/>
                    </a:solidFill>
                  </a:tcPr>
                </a:tc>
                <a:tc>
                  <a:txBody>
                    <a:bodyPr/>
                    <a:lstStyle/>
                    <a:p>
                      <a:r>
                        <a:rPr sz="2025">
                          <a:solidFill>
                            <a:srgbClr val="202527"/>
                          </a:solidFill>
                          <a:latin typeface="Arial"/>
                          <a:ea typeface="Arial"/>
                          <a:cs typeface="Arial"/>
                        </a:rPr>
                        <a:t>Windows 10 x64 sur VirtualBox</a:t>
                      </a:r>
                    </a:p>
                  </a:txBody>
                  <a:tcPr marL="171450" marR="152400" marT="133350" marB="114300" anchor="ctr">
                    <a:solidFill>
                      <a:srgbClr val="FFFFFF"/>
                    </a:solidFill>
                  </a:tcPr>
                </a:tc>
              </a:tr>
            </a:tbl>
          </a:graphicData>
        </a:graphic>
      </p:graphicFrame>
      <p:sp>
        <p:nvSpPr>
          <p:cNvPr id="5" name="text-3-64-492">
            <a:extLst xmlns:a="http://schemas.openxmlformats.org/drawingml/2006/main">
              <a:ext uri="{FF2B5EF4-FFF2-40B4-BE49-F238E27FC236}">
                <a16:creationId xmlns:a16="http://schemas.microsoft.com/office/drawing/2014/main" id="{34333992-2168-4BEA-81B0-6A377CEDB8B2}"/>
              </a:ext>
            </a:extLst>
          </p:cNvPr>
          <p:cNvSpPr>
            <a:spLocks xmlns:a="http://schemas.openxmlformats.org/drawingml/2006/main" noGrp="1"/>
          </p:cNvSpPr>
          <p:nvPr/>
        </p:nvSpPr>
        <p:spPr>
          <a:xfrm xmlns:a="http://schemas.openxmlformats.org/drawingml/2006/main">
            <a:off x="609600" y="468630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1400"/>
              </a:spcAft>
              <a:buChar char="•"/>
              <a:defRPr sz="2100">
                <a:solidFill>
                  <a:srgbClr val="202527"/>
                </a:solidFill>
                <a:latin typeface="Arial"/>
                <a:ea typeface="Arial"/>
                <a:cs typeface="Arial"/>
              </a:defRPr>
            </a:pPr>
            <a:r>
              <a:rPr sz="2100">
                <a:solidFill>
                  <a:srgbClr val="202527"/>
                </a:solidFill>
                <a:latin typeface="Arial"/>
                <a:ea typeface="Arial"/>
                <a:cs typeface="Arial"/>
              </a:rPr>
              <a:t>Réseau Host Only déclaré dans l'US 1</a:t>
            </a:r>
          </a:p>
          <a:p xmlns:a="http://schemas.openxmlformats.org/drawingml/2006/main">
            <a:pPr marL="228600" indent="-114300" algn="l">
              <a:spcAft>
                <a:spcPts val="1400"/>
              </a:spcAft>
              <a:buChar char="•"/>
              <a:defRPr sz="2100">
                <a:solidFill>
                  <a:srgbClr val="202527"/>
                </a:solidFill>
                <a:latin typeface="Arial"/>
                <a:ea typeface="Arial"/>
                <a:cs typeface="Arial"/>
              </a:defRPr>
            </a:pPr>
            <a:r>
              <a:rPr sz="2100">
                <a:solidFill>
                  <a:srgbClr val="202527"/>
                </a:solidFill>
                <a:latin typeface="Arial"/>
                <a:ea typeface="Arial"/>
                <a:cs typeface="Arial"/>
              </a:rPr>
              <a:t>Configuration réseau absente des captures</a:t>
            </a:r>
          </a:p>
        </p:txBody>
      </p:sp>
    </p:spTree>
    <p:extLst>
      <p:ext uri="{BB962C8B-B14F-4D97-AF65-F5344CB8AC3E}">
        <p14:creationId xmlns:p14="http://schemas.microsoft.com/office/powerpoint/2010/main" val="6263578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4-64-42">
            <a:extLst xmlns:a="http://schemas.openxmlformats.org/drawingml/2006/main">
              <a:ext uri="{FF2B5EF4-FFF2-40B4-BE49-F238E27FC236}">
                <a16:creationId xmlns:a16="http://schemas.microsoft.com/office/drawing/2014/main" id="{0B93C8D8-41B1-40CF-A529-BF2E2E80F439}"/>
              </a:ext>
            </a:extLst>
          </p:cNvPr>
          <p:cNvSpPr>
            <a:spLocks xmlns:a="http://schemas.openxmlformats.org/drawingml/2006/main" noGrp="1"/>
          </p:cNvSpPr>
          <p:nvPr/>
        </p:nvSpPr>
        <p:spPr>
          <a:xfrm xmlns:a="http://schemas.openxmlformats.org/drawingml/2006/main">
            <a:off x="609600" y="4000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87D78"/>
                </a:solidFill>
                <a:latin typeface="Arial"/>
                <a:ea typeface="Arial"/>
                <a:cs typeface="Arial"/>
              </a:defRPr>
            </a:pPr>
            <a:r>
              <a:rPr sz="1425" b="1">
                <a:solidFill>
                  <a:srgbClr val="087D78"/>
                </a:solidFill>
                <a:latin typeface="Arial"/>
                <a:ea typeface="Arial"/>
                <a:cs typeface="Arial"/>
              </a:rPr>
              <a:t>US 2</a:t>
            </a:r>
          </a:p>
        </p:txBody>
      </p:sp>
      <p:sp>
        <p:nvSpPr>
          <p:cNvPr id="2" name="title">
            <a:extLst xmlns:a="http://schemas.openxmlformats.org/drawingml/2006/main">
              <a:ext uri="{FF2B5EF4-FFF2-40B4-BE49-F238E27FC236}">
                <a16:creationId xmlns:a16="http://schemas.microsoft.com/office/drawing/2014/main" id="{A424695E-73E6-4533-9F88-26D4825A7CF1}"/>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2527"/>
                </a:solidFill>
                <a:latin typeface="Arial"/>
                <a:ea typeface="Arial"/>
                <a:cs typeface="Arial"/>
              </a:defRPr>
            </a:pPr>
            <a:r>
              <a:rPr sz="3300" b="1">
                <a:solidFill>
                  <a:srgbClr val="202527"/>
                </a:solidFill>
                <a:latin typeface="Arial"/>
                <a:ea typeface="Arial"/>
                <a:cs typeface="Arial"/>
              </a:rPr>
              <a:t>Env.exe : 26 détections sur 71</a:t>
            </a:r>
          </a:p>
        </p:txBody>
      </p:sp>
      <p:sp>
        <p:nvSpPr>
          <p:cNvPr id="3" name="text-4-1156-673">
            <a:extLst xmlns:a="http://schemas.openxmlformats.org/drawingml/2006/main">
              <a:ext uri="{FF2B5EF4-FFF2-40B4-BE49-F238E27FC236}">
                <a16:creationId xmlns:a16="http://schemas.microsoft.com/office/drawing/2014/main" id="{9BBAE261-CD56-4630-9FD3-6DD74FEDC848}"/>
              </a:ext>
            </a:extLst>
          </p:cNvPr>
          <p:cNvSpPr>
            <a:spLocks xmlns:a="http://schemas.openxmlformats.org/drawingml/2006/main" noGrp="1"/>
          </p:cNvSpPr>
          <p:nvPr/>
        </p:nvSpPr>
        <p:spPr>
          <a:xfrm xmlns:a="http://schemas.openxmlformats.org/drawingml/2006/main">
            <a:off x="110109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60686C"/>
                </a:solidFill>
                <a:latin typeface="Arial"/>
                <a:ea typeface="Arial"/>
                <a:cs typeface="Arial"/>
              </a:defRPr>
            </a:pPr>
            <a:r>
              <a:rPr sz="1200">
                <a:solidFill>
                  <a:srgbClr val="60686C"/>
                </a:solidFill>
                <a:latin typeface="Arial"/>
                <a:ea typeface="Arial"/>
                <a:cs typeface="Arial"/>
              </a:rPr>
              <a:t>04</a:t>
            </a:r>
          </a:p>
        </p:txBody>
      </p:sp>
      <p:sp>
        <p:nvSpPr>
          <p:cNvPr id="5" name="text-4-64-525">
            <a:extLst xmlns:a="http://schemas.openxmlformats.org/drawingml/2006/main">
              <a:ext uri="{FF2B5EF4-FFF2-40B4-BE49-F238E27FC236}">
                <a16:creationId xmlns:a16="http://schemas.microsoft.com/office/drawing/2014/main" id="{EE02A229-AA19-4F68-B822-ACE97A96CCC7}"/>
              </a:ext>
            </a:extLst>
          </p:cNvPr>
          <p:cNvSpPr>
            <a:spLocks xmlns:a="http://schemas.openxmlformats.org/drawingml/2006/main" noGrp="1"/>
          </p:cNvSpPr>
          <p:nvPr/>
        </p:nvSpPr>
        <p:spPr>
          <a:xfrm xmlns:a="http://schemas.openxmlformats.org/drawingml/2006/main">
            <a:off x="609600" y="500062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1400"/>
              </a:spcAft>
              <a:buChar char="•"/>
              <a:defRPr sz="2100">
                <a:solidFill>
                  <a:srgbClr val="202527"/>
                </a:solidFill>
                <a:latin typeface="Arial"/>
                <a:ea typeface="Arial"/>
                <a:cs typeface="Arial"/>
              </a:defRPr>
            </a:pPr>
            <a:r>
              <a:rPr sz="2100">
                <a:solidFill>
                  <a:srgbClr val="202527"/>
                </a:solidFill>
                <a:latin typeface="Arial"/>
                <a:ea typeface="Arial"/>
                <a:cs typeface="Arial"/>
              </a:rPr>
              <a:t>SHA-256 : identification de l'échantillon</a:t>
            </a:r>
          </a:p>
          <a:p xmlns:a="http://schemas.openxmlformats.org/drawingml/2006/main">
            <a:pPr marL="228600" indent="-114300" algn="l">
              <a:spcAft>
                <a:spcPts val="1400"/>
              </a:spcAft>
              <a:buChar char="•"/>
              <a:defRPr sz="2100">
                <a:solidFill>
                  <a:srgbClr val="202527"/>
                </a:solidFill>
                <a:latin typeface="Arial"/>
                <a:ea typeface="Arial"/>
                <a:cs typeface="Arial"/>
              </a:defRPr>
            </a:pPr>
            <a:r>
              <a:rPr sz="2100">
                <a:solidFill>
                  <a:srgbClr val="202527"/>
                </a:solidFill>
                <a:latin typeface="Arial"/>
                <a:ea typeface="Arial"/>
                <a:cs typeface="Arial"/>
              </a:rPr>
              <a:t>Classification : trojan, avec des libellés keylogger</a:t>
            </a:r>
          </a:p>
        </p:txBody>
      </p:sp>
      <p:pic>
        <p:nvPicPr>
          <p:cNvPr id="9" name="" descr="Extrait du rapport VirusTotal : score 26/71 et classification de l'échantillon Env.exe."/>
          <p:cNvPicPr>
            <a:picLocks xmlns:a="http://schemas.openxmlformats.org/drawingml/2006/main" noChangeAspect="1"/>
          </p:cNvPicPr>
          <p:nvPr/>
        </p:nvPicPr>
        <p:blipFill>
          <a:blip xmlns:r="http://schemas.openxmlformats.org/officeDocument/2006/relationships" xmlns:a="http://schemas.openxmlformats.org/drawingml/2006/main" r:embed="R2f1a961423f448be"/>
          <a:srcRect xmlns:a="http://schemas.openxmlformats.org/drawingml/2006/main" l="0" t="0" r="0" b="53000"/>
          <a:stretch xmlns:a="http://schemas.openxmlformats.org/drawingml/2006/main">
            <a:fillRect l="0" t="0" r="0" b="0"/>
          </a:stretch>
        </p:blipFill>
        <p:spPr>
          <a:xfrm xmlns:a="http://schemas.openxmlformats.org/drawingml/2006/main">
            <a:off x="609600" y="1943100"/>
            <a:ext cx="10972800" cy="2587118"/>
          </a:xfrm>
          <a:prstGeom xmlns:a="http://schemas.openxmlformats.org/drawingml/2006/main" prst="rect">
            <a:avLst/>
          </a:prstGeom>
        </p:spPr>
      </p:pic>
    </p:spTree>
    <p:extLst>
      <p:ext uri="{BB962C8B-B14F-4D97-AF65-F5344CB8AC3E}">
        <p14:creationId xmlns:p14="http://schemas.microsoft.com/office/powerpoint/2010/main" val="4384351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5-64-42">
            <a:extLst xmlns:a="http://schemas.openxmlformats.org/drawingml/2006/main">
              <a:ext uri="{FF2B5EF4-FFF2-40B4-BE49-F238E27FC236}">
                <a16:creationId xmlns:a16="http://schemas.microsoft.com/office/drawing/2014/main" id="{46A185B2-3ABE-4570-959D-9D737264B9BF}"/>
              </a:ext>
            </a:extLst>
          </p:cNvPr>
          <p:cNvSpPr>
            <a:spLocks xmlns:a="http://schemas.openxmlformats.org/drawingml/2006/main" noGrp="1"/>
          </p:cNvSpPr>
          <p:nvPr/>
        </p:nvSpPr>
        <p:spPr>
          <a:xfrm xmlns:a="http://schemas.openxmlformats.org/drawingml/2006/main">
            <a:off x="609600" y="4000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87D78"/>
                </a:solidFill>
                <a:latin typeface="Arial"/>
                <a:ea typeface="Arial"/>
                <a:cs typeface="Arial"/>
              </a:defRPr>
            </a:pPr>
            <a:r>
              <a:rPr sz="1425" b="1">
                <a:solidFill>
                  <a:srgbClr val="087D78"/>
                </a:solidFill>
                <a:latin typeface="Arial"/>
                <a:ea typeface="Arial"/>
                <a:cs typeface="Arial"/>
              </a:rPr>
              <a:t>US 3</a:t>
            </a:r>
          </a:p>
        </p:txBody>
      </p:sp>
      <p:sp>
        <p:nvSpPr>
          <p:cNvPr id="2" name="title">
            <a:extLst xmlns:a="http://schemas.openxmlformats.org/drawingml/2006/main">
              <a:ext uri="{FF2B5EF4-FFF2-40B4-BE49-F238E27FC236}">
                <a16:creationId xmlns:a16="http://schemas.microsoft.com/office/drawing/2014/main" id="{C489F758-9977-402E-A7E9-7998BCBC77FD}"/>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2527"/>
                </a:solidFill>
                <a:latin typeface="Arial"/>
                <a:ea typeface="Arial"/>
                <a:cs typeface="Arial"/>
              </a:defRPr>
            </a:pPr>
            <a:r>
              <a:rPr sz="3300" b="1">
                <a:solidFill>
                  <a:srgbClr val="202527"/>
                </a:solidFill>
                <a:latin typeface="Arial"/>
                <a:ea typeface="Arial"/>
                <a:cs typeface="Arial"/>
              </a:rPr>
              <a:t>Analyse statique d'Env.exe et Res.exe</a:t>
            </a:r>
          </a:p>
        </p:txBody>
      </p:sp>
      <p:sp>
        <p:nvSpPr>
          <p:cNvPr id="3" name="text-5-1156-673">
            <a:extLst xmlns:a="http://schemas.openxmlformats.org/drawingml/2006/main">
              <a:ext uri="{FF2B5EF4-FFF2-40B4-BE49-F238E27FC236}">
                <a16:creationId xmlns:a16="http://schemas.microsoft.com/office/drawing/2014/main" id="{35FDF4E6-6BFA-4233-81BB-1A46C8E43726}"/>
              </a:ext>
            </a:extLst>
          </p:cNvPr>
          <p:cNvSpPr>
            <a:spLocks xmlns:a="http://schemas.openxmlformats.org/drawingml/2006/main" noGrp="1"/>
          </p:cNvSpPr>
          <p:nvPr/>
        </p:nvSpPr>
        <p:spPr>
          <a:xfrm xmlns:a="http://schemas.openxmlformats.org/drawingml/2006/main">
            <a:off x="110109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60686C"/>
                </a:solidFill>
                <a:latin typeface="Arial"/>
                <a:ea typeface="Arial"/>
                <a:cs typeface="Arial"/>
              </a:defRPr>
            </a:pPr>
            <a:r>
              <a:rPr sz="1200">
                <a:solidFill>
                  <a:srgbClr val="60686C"/>
                </a:solidFill>
                <a:latin typeface="Arial"/>
                <a:ea typeface="Arial"/>
                <a:cs typeface="Arial"/>
              </a:rPr>
              <a:t>05</a:t>
            </a:r>
          </a:p>
        </p:txBody>
      </p:sp>
      <p:graphicFrame>
        <p:nvGraphicFramePr>
          <p:cNvPr id="9" name=""/>
          <p:cNvGraphicFramePr/>
          <p:nvPr/>
        </p:nvGraphicFramePr>
        <p:xfrm>
          <a:off xmlns:a="http://schemas.openxmlformats.org/drawingml/2006/main" x="609600" y="1924050"/>
          <a:ext xmlns:a="http://schemas.openxmlformats.org/drawingml/2006/main" cx="10972800" cy="3181350"/>
        </p:xfrm>
        <a:graphic xmlns:a="http://schemas.openxmlformats.org/drawingml/2006/main">
          <a:graphicData uri="http://schemas.openxmlformats.org/drawingml/2006/table">
            <a:tbl>
              <a:tblPr firstRow="1" bandRow="0"/>
              <a:tblGrid>
                <a:gridCol w="2324100"/>
                <a:gridCol w="3924300"/>
                <a:gridCol w="4724400"/>
              </a:tblGrid>
              <a:tr h="571500">
                <a:tc>
                  <a:txBody>
                    <a:bodyPr/>
                    <a:lstStyle/>
                    <a:p>
                      <a:r>
                        <a:rPr sz="1950" b="1">
                          <a:solidFill>
                            <a:srgbClr val="087D78"/>
                          </a:solidFill>
                          <a:latin typeface="Arial"/>
                          <a:ea typeface="Arial"/>
                          <a:cs typeface="Arial"/>
                        </a:rPr>
                        <a:t>Observation</a:t>
                      </a:r>
                    </a:p>
                  </a:txBody>
                  <a:tcPr marL="171450" marR="152400" marT="133350" marB="114300" anchor="ctr">
                    <a:solidFill>
                      <a:srgbClr val="EFF5F3"/>
                    </a:solidFill>
                  </a:tcPr>
                </a:tc>
                <a:tc>
                  <a:txBody>
                    <a:bodyPr/>
                    <a:lstStyle/>
                    <a:p>
                      <a:r>
                        <a:rPr sz="1950" b="1">
                          <a:solidFill>
                            <a:srgbClr val="087D78"/>
                          </a:solidFill>
                          <a:latin typeface="Arial"/>
                          <a:ea typeface="Arial"/>
                          <a:cs typeface="Arial"/>
                        </a:rPr>
                        <a:t>Env.exe</a:t>
                      </a:r>
                    </a:p>
                  </a:txBody>
                  <a:tcPr marL="171450" marR="152400" marT="133350" marB="114300" anchor="ctr">
                    <a:solidFill>
                      <a:srgbClr val="EFF5F3"/>
                    </a:solidFill>
                  </a:tcPr>
                </a:tc>
                <a:tc>
                  <a:txBody>
                    <a:bodyPr/>
                    <a:lstStyle/>
                    <a:p>
                      <a:r>
                        <a:rPr sz="1950" b="1">
                          <a:solidFill>
                            <a:srgbClr val="087D78"/>
                          </a:solidFill>
                          <a:latin typeface="Arial"/>
                          <a:ea typeface="Arial"/>
                          <a:cs typeface="Arial"/>
                        </a:rPr>
                        <a:t>Res.exe</a:t>
                      </a:r>
                    </a:p>
                  </a:txBody>
                  <a:tcPr marL="171450" marR="152400" marT="133350" marB="114300" anchor="ctr">
                    <a:solidFill>
                      <a:srgbClr val="EFF5F3"/>
                    </a:solidFill>
                  </a:tcPr>
                </a:tc>
              </a:tr>
              <a:tr h="819150">
                <a:tc>
                  <a:txBody>
                    <a:bodyPr/>
                    <a:lstStyle/>
                    <a:p>
                      <a:r>
                        <a:rPr sz="1950">
                          <a:solidFill>
                            <a:srgbClr val="202527"/>
                          </a:solidFill>
                          <a:latin typeface="Arial"/>
                          <a:ea typeface="Arial"/>
                          <a:cs typeface="Arial"/>
                        </a:rPr>
                        <a:t>Format</a:t>
                      </a:r>
                    </a:p>
                  </a:txBody>
                  <a:tcPr marL="171450" marR="152400" marT="133350" marB="114300" anchor="ctr">
                    <a:solidFill>
                      <a:srgbClr val="FFFFFF"/>
                    </a:solidFill>
                  </a:tcPr>
                </a:tc>
                <a:tc>
                  <a:txBody>
                    <a:bodyPr/>
                    <a:lstStyle/>
                    <a:p>
                      <a:r>
                        <a:rPr sz="1950">
                          <a:solidFill>
                            <a:srgbClr val="202527"/>
                          </a:solidFill>
                          <a:latin typeface="Arial"/>
                          <a:ea typeface="Arial"/>
                          <a:cs typeface="Arial"/>
                        </a:rPr>
                        <a:t>PE32 x86, Qt5</a:t>
                      </a:r>
                    </a:p>
                  </a:txBody>
                  <a:tcPr marL="171450" marR="152400" marT="133350" marB="114300" anchor="ctr">
                    <a:solidFill>
                      <a:srgbClr val="FFFFFF"/>
                    </a:solidFill>
                  </a:tcPr>
                </a:tc>
                <a:tc>
                  <a:txBody>
                    <a:bodyPr/>
                    <a:lstStyle/>
                    <a:p>
                      <a:r>
                        <a:rPr sz="1950">
                          <a:solidFill>
                            <a:srgbClr val="202527"/>
                          </a:solidFill>
                          <a:latin typeface="Arial"/>
                          <a:ea typeface="Arial"/>
                          <a:cs typeface="Arial"/>
                        </a:rPr>
                        <a:t>PE32 x86, Qt5</a:t>
                      </a:r>
                    </a:p>
                  </a:txBody>
                  <a:tcPr marL="171450" marR="152400" marT="133350" marB="114300" anchor="ctr">
                    <a:solidFill>
                      <a:srgbClr val="FFFFFF"/>
                    </a:solidFill>
                  </a:tcPr>
                </a:tc>
              </a:tr>
              <a:tr h="895350">
                <a:tc>
                  <a:txBody>
                    <a:bodyPr/>
                    <a:lstStyle/>
                    <a:p>
                      <a:r>
                        <a:rPr sz="1950">
                          <a:solidFill>
                            <a:srgbClr val="202527"/>
                          </a:solidFill>
                          <a:latin typeface="Arial"/>
                          <a:ea typeface="Arial"/>
                          <a:cs typeface="Arial"/>
                        </a:rPr>
                        <a:t>Indices statiques</a:t>
                      </a:r>
                    </a:p>
                  </a:txBody>
                  <a:tcPr marL="171450" marR="152400" marT="133350" marB="114300" anchor="ctr">
                    <a:solidFill>
                      <a:srgbClr val="FFFFFF"/>
                    </a:solidFill>
                  </a:tcPr>
                </a:tc>
                <a:tc>
                  <a:txBody>
                    <a:bodyPr/>
                    <a:lstStyle/>
                    <a:p>
                      <a:r>
                        <a:rPr sz="1950">
                          <a:solidFill>
                            <a:srgbClr val="202527"/>
                          </a:solidFill>
                          <a:latin typeface="Arial"/>
                          <a:ea typeface="Arial"/>
                          <a:cs typeface="Arial"/>
                        </a:rPr>
                        <a:t>Appels TLS</a:t>
                      </a:r>
                    </a:p>
                  </a:txBody>
                  <a:tcPr marL="171450" marR="152400" marT="133350" marB="114300" anchor="ctr">
                    <a:solidFill>
                      <a:srgbClr val="FFFFFF"/>
                    </a:solidFill>
                  </a:tcPr>
                </a:tc>
                <a:tc>
                  <a:txBody>
                    <a:bodyPr/>
                    <a:lstStyle/>
                    <a:p>
                      <a:r>
                        <a:rPr sz="1950">
                          <a:solidFill>
                            <a:srgbClr val="202527"/>
                          </a:solidFill>
                          <a:latin typeface="Arial"/>
                          <a:ea typeface="Arial"/>
                          <a:cs typeface="Arial"/>
                        </a:rPr>
                        <a:t>XCOPY vers C:\WindSyst</a:t>
                      </a:r>
                    </a:p>
                  </a:txBody>
                  <a:tcPr marL="171450" marR="152400" marT="133350" marB="114300" anchor="ctr">
                    <a:solidFill>
                      <a:srgbClr val="FFFFFF"/>
                    </a:solidFill>
                  </a:tcPr>
                </a:tc>
              </a:tr>
              <a:tr h="895350">
                <a:tc>
                  <a:txBody>
                    <a:bodyPr/>
                    <a:lstStyle/>
                    <a:p>
                      <a:r>
                        <a:rPr sz="1950">
                          <a:solidFill>
                            <a:srgbClr val="202527"/>
                          </a:solidFill>
                          <a:latin typeface="Arial"/>
                          <a:ea typeface="Arial"/>
                          <a:cs typeface="Arial"/>
                        </a:rPr>
                        <a:t>Point à vérifier</a:t>
                      </a:r>
                    </a:p>
                  </a:txBody>
                  <a:tcPr marL="171450" marR="152400" marT="133350" marB="114300" anchor="ctr">
                    <a:solidFill>
                      <a:srgbClr val="FFFFFF"/>
                    </a:solidFill>
                  </a:tcPr>
                </a:tc>
                <a:tc>
                  <a:txBody>
                    <a:bodyPr/>
                    <a:lstStyle/>
                    <a:p>
                      <a:r>
                        <a:rPr sz="1950">
                          <a:solidFill>
                            <a:srgbClr val="202527"/>
                          </a:solidFill>
                          <a:latin typeface="Arial"/>
                          <a:ea typeface="Arial"/>
                          <a:cs typeface="Arial"/>
                        </a:rPr>
                        <a:t>Destination réseau</a:t>
                      </a:r>
                    </a:p>
                  </a:txBody>
                  <a:tcPr marL="171450" marR="152400" marT="133350" marB="114300" anchor="ctr">
                    <a:solidFill>
                      <a:srgbClr val="FFFFFF"/>
                    </a:solidFill>
                  </a:tcPr>
                </a:tc>
                <a:tc>
                  <a:txBody>
                    <a:bodyPr/>
                    <a:lstStyle/>
                    <a:p>
                      <a:r>
                        <a:rPr sz="1950">
                          <a:solidFill>
                            <a:srgbClr val="202527"/>
                          </a:solidFill>
                          <a:latin typeface="Arial"/>
                          <a:ea typeface="Arial"/>
                          <a:cs typeface="Arial"/>
                        </a:rPr>
                        <a:t>Référence à HKCU Run</a:t>
                      </a:r>
                    </a:p>
                  </a:txBody>
                  <a:tcPr marL="171450" marR="152400" marT="133350" marB="114300" anchor="ctr">
                    <a:solidFill>
                      <a:srgbClr val="FFFFFF"/>
                    </a:solidFill>
                  </a:tcPr>
                </a:tc>
              </a:tr>
            </a:tbl>
          </a:graphicData>
        </a:graphic>
      </p:graphicFrame>
      <p:sp>
        <p:nvSpPr>
          <p:cNvPr id="5" name="text-5-64-578">
            <a:extLst xmlns:a="http://schemas.openxmlformats.org/drawingml/2006/main">
              <a:ext uri="{FF2B5EF4-FFF2-40B4-BE49-F238E27FC236}">
                <a16:creationId xmlns:a16="http://schemas.microsoft.com/office/drawing/2014/main" id="{D089B69A-2E64-464B-8E2B-718D9C18453F}"/>
              </a:ext>
            </a:extLst>
          </p:cNvPr>
          <p:cNvSpPr>
            <a:spLocks xmlns:a="http://schemas.openxmlformats.org/drawingml/2006/main" noGrp="1"/>
          </p:cNvSpPr>
          <p:nvPr/>
        </p:nvSpPr>
        <p:spPr>
          <a:xfrm xmlns:a="http://schemas.openxmlformats.org/drawingml/2006/main">
            <a:off x="609600" y="55054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a:solidFill>
                  <a:srgbClr val="60686C"/>
                </a:solidFill>
                <a:latin typeface="Arial"/>
                <a:ea typeface="Arial"/>
                <a:cs typeface="Arial"/>
              </a:defRPr>
            </a:pPr>
            <a:r>
              <a:rPr sz="2025">
                <a:solidFill>
                  <a:srgbClr val="60686C"/>
                </a:solidFill>
                <a:latin typeface="Arial"/>
                <a:ea typeface="Arial"/>
                <a:cs typeface="Arial"/>
              </a:rPr>
              <a:t>Les imports et les chaînes donnent des pistes, à confirmer à l'exécution.</a:t>
            </a:r>
          </a:p>
        </p:txBody>
      </p:sp>
    </p:spTree>
    <p:extLst>
      <p:ext uri="{BB962C8B-B14F-4D97-AF65-F5344CB8AC3E}">
        <p14:creationId xmlns:p14="http://schemas.microsoft.com/office/powerpoint/2010/main" val="14221979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6-64-42">
            <a:extLst xmlns:a="http://schemas.openxmlformats.org/drawingml/2006/main">
              <a:ext uri="{FF2B5EF4-FFF2-40B4-BE49-F238E27FC236}">
                <a16:creationId xmlns:a16="http://schemas.microsoft.com/office/drawing/2014/main" id="{42345C60-5C39-4B5C-ABDA-2392A389A936}"/>
              </a:ext>
            </a:extLst>
          </p:cNvPr>
          <p:cNvSpPr>
            <a:spLocks xmlns:a="http://schemas.openxmlformats.org/drawingml/2006/main" noGrp="1"/>
          </p:cNvSpPr>
          <p:nvPr/>
        </p:nvSpPr>
        <p:spPr>
          <a:xfrm xmlns:a="http://schemas.openxmlformats.org/drawingml/2006/main">
            <a:off x="609600" y="4000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87D78"/>
                </a:solidFill>
                <a:latin typeface="Arial"/>
                <a:ea typeface="Arial"/>
                <a:cs typeface="Arial"/>
              </a:defRPr>
            </a:pPr>
            <a:r>
              <a:rPr sz="1425" b="1">
                <a:solidFill>
                  <a:srgbClr val="087D78"/>
                </a:solidFill>
                <a:latin typeface="Arial"/>
                <a:ea typeface="Arial"/>
                <a:cs typeface="Arial"/>
              </a:rPr>
              <a:t>US 4</a:t>
            </a:r>
          </a:p>
        </p:txBody>
      </p:sp>
      <p:sp>
        <p:nvSpPr>
          <p:cNvPr id="2" name="title">
            <a:extLst xmlns:a="http://schemas.openxmlformats.org/drawingml/2006/main">
              <a:ext uri="{FF2B5EF4-FFF2-40B4-BE49-F238E27FC236}">
                <a16:creationId xmlns:a16="http://schemas.microsoft.com/office/drawing/2014/main" id="{65025491-0BFB-4A65-9B82-B55BE4FEB500}"/>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2527"/>
                </a:solidFill>
                <a:latin typeface="Arial"/>
                <a:ea typeface="Arial"/>
                <a:cs typeface="Arial"/>
              </a:defRPr>
            </a:pPr>
            <a:r>
              <a:rPr sz="3300" b="1">
                <a:solidFill>
                  <a:srgbClr val="202527"/>
                </a:solidFill>
                <a:latin typeface="Arial"/>
                <a:ea typeface="Arial"/>
                <a:cs typeface="Arial"/>
              </a:rPr>
              <a:t>Res.exe enregistre les frappes</a:t>
            </a:r>
          </a:p>
        </p:txBody>
      </p:sp>
      <p:sp>
        <p:nvSpPr>
          <p:cNvPr id="3" name="text-6-1156-673">
            <a:extLst xmlns:a="http://schemas.openxmlformats.org/drawingml/2006/main">
              <a:ext uri="{FF2B5EF4-FFF2-40B4-BE49-F238E27FC236}">
                <a16:creationId xmlns:a16="http://schemas.microsoft.com/office/drawing/2014/main" id="{06EC9F67-6EB7-48EA-8686-8B7AC9A2F3E3}"/>
              </a:ext>
            </a:extLst>
          </p:cNvPr>
          <p:cNvSpPr>
            <a:spLocks xmlns:a="http://schemas.openxmlformats.org/drawingml/2006/main" noGrp="1"/>
          </p:cNvSpPr>
          <p:nvPr/>
        </p:nvSpPr>
        <p:spPr>
          <a:xfrm xmlns:a="http://schemas.openxmlformats.org/drawingml/2006/main">
            <a:off x="110109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60686C"/>
                </a:solidFill>
                <a:latin typeface="Arial"/>
                <a:ea typeface="Arial"/>
                <a:cs typeface="Arial"/>
              </a:defRPr>
            </a:pPr>
            <a:r>
              <a:rPr sz="1200">
                <a:solidFill>
                  <a:srgbClr val="60686C"/>
                </a:solidFill>
                <a:latin typeface="Arial"/>
                <a:ea typeface="Arial"/>
                <a:cs typeface="Arial"/>
              </a:rPr>
              <a:t>06</a:t>
            </a:r>
          </a:p>
        </p:txBody>
      </p:sp>
      <p:sp>
        <p:nvSpPr>
          <p:cNvPr id="5" name="text-6-844-218">
            <a:extLst xmlns:a="http://schemas.openxmlformats.org/drawingml/2006/main">
              <a:ext uri="{FF2B5EF4-FFF2-40B4-BE49-F238E27FC236}">
                <a16:creationId xmlns:a16="http://schemas.microsoft.com/office/drawing/2014/main" id="{D0AA3492-5C1E-4DE7-BF97-E298224AABBF}"/>
              </a:ext>
            </a:extLst>
          </p:cNvPr>
          <p:cNvSpPr>
            <a:spLocks xmlns:a="http://schemas.openxmlformats.org/drawingml/2006/main" noGrp="1"/>
          </p:cNvSpPr>
          <p:nvPr/>
        </p:nvSpPr>
        <p:spPr>
          <a:xfrm xmlns:a="http://schemas.openxmlformats.org/drawingml/2006/main">
            <a:off x="8039100" y="2076450"/>
            <a:ext cx="35433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1400"/>
              </a:spcAft>
              <a:buChar char="•"/>
              <a:defRPr sz="2100">
                <a:solidFill>
                  <a:srgbClr val="202527"/>
                </a:solidFill>
                <a:latin typeface="Arial"/>
                <a:ea typeface="Arial"/>
                <a:cs typeface="Arial"/>
              </a:defRPr>
            </a:pPr>
            <a:r>
              <a:rPr sz="2100">
                <a:solidFill>
                  <a:srgbClr val="202527"/>
                </a:solidFill>
                <a:latin typeface="Arial"/>
                <a:ea typeface="Arial"/>
                <a:cs typeface="Arial"/>
              </a:rPr>
              <a:t>Fichiers dans C:\WindSyst</a:t>
            </a:r>
          </a:p>
          <a:p xmlns:a="http://schemas.openxmlformats.org/drawingml/2006/main">
            <a:pPr marL="228600" indent="-114300" algn="l">
              <a:spcAft>
                <a:spcPts val="1400"/>
              </a:spcAft>
              <a:buChar char="•"/>
              <a:defRPr sz="2100">
                <a:solidFill>
                  <a:srgbClr val="202527"/>
                </a:solidFill>
                <a:latin typeface="Arial"/>
                <a:ea typeface="Arial"/>
                <a:cs typeface="Arial"/>
              </a:defRPr>
            </a:pPr>
            <a:r>
              <a:rPr sz="2100">
                <a:solidFill>
                  <a:srgbClr val="202527"/>
                </a:solidFill>
                <a:latin typeface="Arial"/>
                <a:ea typeface="Arial"/>
                <a:cs typeface="Arial"/>
              </a:rPr>
              <a:t>Frappes dans log.txt</a:t>
            </a:r>
          </a:p>
          <a:p xmlns:a="http://schemas.openxmlformats.org/drawingml/2006/main">
            <a:pPr marL="228600" indent="-114300" algn="l">
              <a:spcAft>
                <a:spcPts val="1400"/>
              </a:spcAft>
              <a:buChar char="•"/>
              <a:defRPr sz="2100">
                <a:solidFill>
                  <a:srgbClr val="202527"/>
                </a:solidFill>
                <a:latin typeface="Arial"/>
                <a:ea typeface="Arial"/>
                <a:cs typeface="Arial"/>
              </a:defRPr>
            </a:pPr>
            <a:r>
              <a:rPr sz="2100">
                <a:solidFill>
                  <a:srgbClr val="202527"/>
                </a:solidFill>
                <a:latin typeface="Arial"/>
                <a:ea typeface="Arial"/>
                <a:cs typeface="Arial"/>
              </a:rPr>
              <a:t>Env.exe bloqué par un plugin Qt manquant</a:t>
            </a:r>
          </a:p>
        </p:txBody>
      </p:sp>
      <p:sp>
        <p:nvSpPr>
          <p:cNvPr id="6" name="text-6-64-615">
            <a:extLst xmlns:a="http://schemas.openxmlformats.org/drawingml/2006/main">
              <a:ext uri="{FF2B5EF4-FFF2-40B4-BE49-F238E27FC236}">
                <a16:creationId xmlns:a16="http://schemas.microsoft.com/office/drawing/2014/main" id="{01309167-2E8D-4303-AD53-BA9F92E82A74}"/>
              </a:ext>
            </a:extLst>
          </p:cNvPr>
          <p:cNvSpPr>
            <a:spLocks xmlns:a="http://schemas.openxmlformats.org/drawingml/2006/main" noGrp="1"/>
          </p:cNvSpPr>
          <p:nvPr/>
        </p:nvSpPr>
        <p:spPr>
          <a:xfrm xmlns:a="http://schemas.openxmlformats.org/drawingml/2006/main">
            <a:off x="609600" y="58578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a:solidFill>
                  <a:srgbClr val="60686C"/>
                </a:solidFill>
                <a:latin typeface="Arial"/>
                <a:ea typeface="Arial"/>
                <a:cs typeface="Arial"/>
              </a:defRPr>
            </a:pPr>
            <a:r>
              <a:rPr sz="1875">
                <a:solidFill>
                  <a:srgbClr val="60686C"/>
                </a:solidFill>
                <a:latin typeface="Arial"/>
                <a:ea typeface="Arial"/>
                <a:cs typeface="Arial"/>
              </a:rPr>
              <a:t>Aucun trafic visible pendant l'observation documentée.</a:t>
            </a:r>
          </a:p>
        </p:txBody>
      </p:sp>
      <p:pic>
        <p:nvPicPr>
          <p:cNvPr id="10" name="" descr="Capture du fichier log.txt avec les frappes de test enregistrées."/>
          <p:cNvPicPr>
            <a:picLocks xmlns:a="http://schemas.openxmlformats.org/drawingml/2006/main" noChangeAspect="1"/>
          </p:cNvPicPr>
          <p:nvPr/>
        </p:nvPicPr>
        <p:blipFill>
          <a:blip xmlns:r="http://schemas.openxmlformats.org/officeDocument/2006/relationships" xmlns:a="http://schemas.openxmlformats.org/drawingml/2006/main" r:embed="Rb748d10dfc284d10"/>
          <a:srcRect xmlns:a="http://schemas.openxmlformats.org/drawingml/2006/main" l="0" t="0" r="0" b="33000"/>
          <a:stretch xmlns:a="http://schemas.openxmlformats.org/drawingml/2006/main">
            <a:fillRect l="0" t="0" r="0" b="0"/>
          </a:stretch>
        </p:blipFill>
        <p:spPr>
          <a:xfrm xmlns:a="http://schemas.openxmlformats.org/drawingml/2006/main">
            <a:off x="609600" y="1952625"/>
            <a:ext cx="6934200" cy="3026555"/>
          </a:xfrm>
          <a:prstGeom xmlns:a="http://schemas.openxmlformats.org/drawingml/2006/main" prst="rect">
            <a:avLst/>
          </a:prstGeom>
        </p:spPr>
      </p:pic>
    </p:spTree>
    <p:extLst>
      <p:ext uri="{BB962C8B-B14F-4D97-AF65-F5344CB8AC3E}">
        <p14:creationId xmlns:p14="http://schemas.microsoft.com/office/powerpoint/2010/main" val="551548636"/>
      </p:ext>
    </p:extLst>
  </p:cSld>
</p:sld>
</file>

<file path=ppt/slides/slide7.xml><?xml version="1.0" encoding="utf-8"?>
<p:sld xmlns:p="http://schemas.openxmlformats.org/presentationml/2006/main">
  <p:cSld>
    <p:bg>
      <p:bgPr>
        <a:solidFill xmlns:a="http://schemas.openxmlformats.org/drawingml/2006/main">
          <a:srgbClr val="1C2224"/>
        </a:solidFill>
      </p:bgPr>
    </p:bg>
    <p:spTree>
      <p:nvGrpSpPr>
        <p:cNvPr id="1" name=""/>
        <p:cNvGrpSpPr/>
        <p:nvPr/>
      </p:nvGrpSpPr>
      <p:grpSpPr>
        <a:xfrm xmlns:a="http://schemas.openxmlformats.org/drawingml/2006/main"/>
      </p:grpSpPr>
      <p:sp>
        <p:nvSpPr>
          <p:cNvPr id="9" name="text-7-64-42">
            <a:extLst xmlns:a="http://schemas.openxmlformats.org/drawingml/2006/main">
              <a:ext uri="{FF2B5EF4-FFF2-40B4-BE49-F238E27FC236}">
                <a16:creationId xmlns:a16="http://schemas.microsoft.com/office/drawing/2014/main" id="{D8B62FA4-2F8C-492D-A85A-A28B58F32A81}"/>
              </a:ext>
            </a:extLst>
          </p:cNvPr>
          <p:cNvSpPr>
            <a:spLocks xmlns:a="http://schemas.openxmlformats.org/drawingml/2006/main" noGrp="1"/>
          </p:cNvSpPr>
          <p:nvPr/>
        </p:nvSpPr>
        <p:spPr>
          <a:xfrm xmlns:a="http://schemas.openxmlformats.org/drawingml/2006/main">
            <a:off x="609600" y="4000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ACDAD3"/>
                </a:solidFill>
                <a:latin typeface="Arial"/>
                <a:ea typeface="Arial"/>
                <a:cs typeface="Arial"/>
              </a:defRPr>
            </a:pPr>
            <a:r>
              <a:rPr sz="1425" b="1">
                <a:solidFill>
                  <a:srgbClr val="ACDAD3"/>
                </a:solidFill>
                <a:latin typeface="Arial"/>
                <a:ea typeface="Arial"/>
                <a:cs typeface="Arial"/>
              </a:rPr>
              <a:t>US 5</a:t>
            </a:r>
          </a:p>
        </p:txBody>
      </p:sp>
      <p:sp>
        <p:nvSpPr>
          <p:cNvPr id="2" name="title">
            <a:extLst xmlns:a="http://schemas.openxmlformats.org/drawingml/2006/main">
              <a:ext uri="{FF2B5EF4-FFF2-40B4-BE49-F238E27FC236}">
                <a16:creationId xmlns:a16="http://schemas.microsoft.com/office/drawing/2014/main" id="{E2BE672C-65DA-464A-8712-CC8094AA3412}"/>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Un risque élevé pour la confidentialité</a:t>
            </a:r>
          </a:p>
        </p:txBody>
      </p:sp>
      <p:sp>
        <p:nvSpPr>
          <p:cNvPr id="3" name="text-7-1156-673">
            <a:extLst xmlns:a="http://schemas.openxmlformats.org/drawingml/2006/main">
              <a:ext uri="{FF2B5EF4-FFF2-40B4-BE49-F238E27FC236}">
                <a16:creationId xmlns:a16="http://schemas.microsoft.com/office/drawing/2014/main" id="{F5BF54DF-7106-4898-A3EE-5F670450ECBE}"/>
              </a:ext>
            </a:extLst>
          </p:cNvPr>
          <p:cNvSpPr>
            <a:spLocks xmlns:a="http://schemas.openxmlformats.org/drawingml/2006/main" noGrp="1"/>
          </p:cNvSpPr>
          <p:nvPr/>
        </p:nvSpPr>
        <p:spPr>
          <a:xfrm xmlns:a="http://schemas.openxmlformats.org/drawingml/2006/main">
            <a:off x="110109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AEB8BA"/>
                </a:solidFill>
                <a:latin typeface="Arial"/>
                <a:ea typeface="Arial"/>
                <a:cs typeface="Arial"/>
              </a:defRPr>
            </a:pPr>
            <a:r>
              <a:rPr sz="1200">
                <a:solidFill>
                  <a:srgbClr val="AEB8BA"/>
                </a:solidFill>
                <a:latin typeface="Arial"/>
                <a:ea typeface="Arial"/>
                <a:cs typeface="Arial"/>
              </a:rPr>
              <a:t>07</a:t>
            </a:r>
          </a:p>
        </p:txBody>
      </p:sp>
      <p:sp>
        <p:nvSpPr>
          <p:cNvPr id="4" name="text-7-64-237">
            <a:extLst xmlns:a="http://schemas.openxmlformats.org/drawingml/2006/main">
              <a:ext uri="{FF2B5EF4-FFF2-40B4-BE49-F238E27FC236}">
                <a16:creationId xmlns:a16="http://schemas.microsoft.com/office/drawing/2014/main" id="{E1CC84DE-5DCA-488C-8B44-9ED71598E35D}"/>
              </a:ext>
            </a:extLst>
          </p:cNvPr>
          <p:cNvSpPr>
            <a:spLocks xmlns:a="http://schemas.openxmlformats.org/drawingml/2006/main" noGrp="1"/>
          </p:cNvSpPr>
          <p:nvPr/>
        </p:nvSpPr>
        <p:spPr>
          <a:xfrm xmlns:a="http://schemas.openxmlformats.org/drawingml/2006/main">
            <a:off x="609600" y="2257425"/>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F09684"/>
                </a:solidFill>
                <a:latin typeface="Arial"/>
                <a:ea typeface="Arial"/>
                <a:cs typeface="Arial"/>
              </a:defRPr>
            </a:pPr>
            <a:r>
              <a:rPr sz="4950" b="1">
                <a:solidFill>
                  <a:srgbClr val="F09684"/>
                </a:solidFill>
                <a:latin typeface="Arial"/>
                <a:ea typeface="Arial"/>
                <a:cs typeface="Arial"/>
              </a:rPr>
              <a:t>ÉLEVÉ</a:t>
            </a:r>
          </a:p>
        </p:txBody>
      </p:sp>
      <p:sp>
        <p:nvSpPr>
          <p:cNvPr id="5" name="text-7-64-356">
            <a:extLst xmlns:a="http://schemas.openxmlformats.org/drawingml/2006/main">
              <a:ext uri="{FF2B5EF4-FFF2-40B4-BE49-F238E27FC236}">
                <a16:creationId xmlns:a16="http://schemas.microsoft.com/office/drawing/2014/main" id="{12D03375-F411-4812-B146-52053D3A554B}"/>
              </a:ext>
            </a:extLst>
          </p:cNvPr>
          <p:cNvSpPr>
            <a:spLocks xmlns:a="http://schemas.openxmlformats.org/drawingml/2006/main" noGrp="1"/>
          </p:cNvSpPr>
          <p:nvPr/>
        </p:nvSpPr>
        <p:spPr>
          <a:xfrm xmlns:a="http://schemas.openxmlformats.org/drawingml/2006/main">
            <a:off x="609600" y="3390900"/>
            <a:ext cx="4572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a:solidFill>
                  <a:srgbClr val="FFFFFF"/>
                </a:solidFill>
                <a:latin typeface="Arial"/>
                <a:ea typeface="Arial"/>
                <a:cs typeface="Arial"/>
              </a:defRPr>
            </a:pPr>
            <a:r>
              <a:rPr sz="2250">
                <a:solidFill>
                  <a:srgbClr val="FFFFFF"/>
                </a:solidFill>
                <a:latin typeface="Arial"/>
                <a:ea typeface="Arial"/>
                <a:cs typeface="Arial"/>
              </a:rPr>
              <a:t>Capture de frappes</a:t>
            </a:r>
          </a:p>
          <a:p xmlns:a="http://schemas.openxmlformats.org/drawingml/2006/main">
            <a:pPr algn="l">
              <a:defRPr sz="2250">
                <a:solidFill>
                  <a:srgbClr val="FFFFFF"/>
                </a:solidFill>
                <a:latin typeface="Arial"/>
                <a:ea typeface="Arial"/>
                <a:cs typeface="Arial"/>
              </a:defRPr>
            </a:pPr>
            <a:r>
              <a:rPr sz="2250">
                <a:solidFill>
                  <a:srgbClr val="FFFFFF"/>
                </a:solidFill>
                <a:latin typeface="Arial"/>
                <a:ea typeface="Arial"/>
                <a:cs typeface="Arial"/>
              </a:rPr>
              <a:t>et risque de vol de secrets</a:t>
            </a:r>
          </a:p>
        </p:txBody>
      </p:sp>
      <p:sp>
        <p:nvSpPr>
          <p:cNvPr id="6" name="text-7-657-237">
            <a:extLst xmlns:a="http://schemas.openxmlformats.org/drawingml/2006/main">
              <a:ext uri="{FF2B5EF4-FFF2-40B4-BE49-F238E27FC236}">
                <a16:creationId xmlns:a16="http://schemas.microsoft.com/office/drawing/2014/main" id="{8976CC9E-76EA-433D-819C-F47233BA8F21}"/>
              </a:ext>
            </a:extLst>
          </p:cNvPr>
          <p:cNvSpPr>
            <a:spLocks xmlns:a="http://schemas.openxmlformats.org/drawingml/2006/main" noGrp="1"/>
          </p:cNvSpPr>
          <p:nvPr/>
        </p:nvSpPr>
        <p:spPr>
          <a:xfrm xmlns:a="http://schemas.openxmlformats.org/drawingml/2006/main">
            <a:off x="6257925" y="2257425"/>
            <a:ext cx="5324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CDAD3"/>
                </a:solidFill>
                <a:latin typeface="Arial"/>
                <a:ea typeface="Arial"/>
                <a:cs typeface="Arial"/>
              </a:defRPr>
            </a:pPr>
            <a:r>
              <a:rPr sz="2400" b="1">
                <a:solidFill>
                  <a:srgbClr val="ACDAD3"/>
                </a:solidFill>
                <a:latin typeface="Arial"/>
                <a:ea typeface="Arial"/>
                <a:cs typeface="Arial"/>
              </a:rPr>
              <a:t>Mesures prioritaires</a:t>
            </a:r>
          </a:p>
        </p:txBody>
      </p:sp>
      <p:sp>
        <p:nvSpPr>
          <p:cNvPr id="7" name="text-7-657-313">
            <a:extLst xmlns:a="http://schemas.openxmlformats.org/drawingml/2006/main">
              <a:ext uri="{FF2B5EF4-FFF2-40B4-BE49-F238E27FC236}">
                <a16:creationId xmlns:a16="http://schemas.microsoft.com/office/drawing/2014/main" id="{C3CBF58F-BD0C-49EB-93B0-B0F316CC096A}"/>
              </a:ext>
            </a:extLst>
          </p:cNvPr>
          <p:cNvSpPr>
            <a:spLocks xmlns:a="http://schemas.openxmlformats.org/drawingml/2006/main" noGrp="1"/>
          </p:cNvSpPr>
          <p:nvPr/>
        </p:nvSpPr>
        <p:spPr>
          <a:xfrm xmlns:a="http://schemas.openxmlformats.org/drawingml/2006/main">
            <a:off x="6257925" y="2981325"/>
            <a:ext cx="5324475" cy="2562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1400"/>
              </a:spcAft>
              <a:buChar char="•"/>
              <a:defRPr sz="2175">
                <a:solidFill>
                  <a:srgbClr val="FFFFFF"/>
                </a:solidFill>
                <a:latin typeface="Arial"/>
                <a:ea typeface="Arial"/>
                <a:cs typeface="Arial"/>
              </a:defRPr>
            </a:pPr>
            <a:r>
              <a:rPr sz="2175">
                <a:solidFill>
                  <a:srgbClr val="FFFFFF"/>
                </a:solidFill>
                <a:latin typeface="Arial"/>
                <a:ea typeface="Arial"/>
                <a:cs typeface="Arial"/>
              </a:rPr>
              <a:t>Isoler le poste et préserver les preuves</a:t>
            </a:r>
          </a:p>
          <a:p xmlns:a="http://schemas.openxmlformats.org/drawingml/2006/main">
            <a:pPr marL="228600" indent="-114300" algn="l">
              <a:spcAft>
                <a:spcPts val="1400"/>
              </a:spcAft>
              <a:buChar char="•"/>
              <a:defRPr sz="2175">
                <a:solidFill>
                  <a:srgbClr val="FFFFFF"/>
                </a:solidFill>
                <a:latin typeface="Arial"/>
                <a:ea typeface="Arial"/>
                <a:cs typeface="Arial"/>
              </a:defRPr>
            </a:pPr>
            <a:r>
              <a:rPr sz="2175">
                <a:solidFill>
                  <a:srgbClr val="FFFFFF"/>
                </a:solidFill>
                <a:latin typeface="Arial"/>
                <a:ea typeface="Arial"/>
                <a:cs typeface="Arial"/>
              </a:rPr>
              <a:t>Renouveler les secrets depuis un poste sain</a:t>
            </a:r>
          </a:p>
          <a:p xmlns:a="http://schemas.openxmlformats.org/drawingml/2006/main">
            <a:pPr marL="228600" indent="-114300" algn="l">
              <a:spcAft>
                <a:spcPts val="1400"/>
              </a:spcAft>
              <a:buChar char="•"/>
              <a:defRPr sz="2175">
                <a:solidFill>
                  <a:srgbClr val="FFFFFF"/>
                </a:solidFill>
                <a:latin typeface="Arial"/>
                <a:ea typeface="Arial"/>
                <a:cs typeface="Arial"/>
              </a:defRPr>
            </a:pPr>
            <a:r>
              <a:rPr sz="2175">
                <a:solidFill>
                  <a:srgbClr val="FFFFFF"/>
                </a:solidFill>
                <a:latin typeface="Arial"/>
                <a:ea typeface="Arial"/>
                <a:cs typeface="Arial"/>
              </a:rPr>
              <a:t>Traiter le malware et contrôler le démarrage</a:t>
            </a:r>
          </a:p>
        </p:txBody>
      </p:sp>
      <p:sp>
        <p:nvSpPr>
          <p:cNvPr id="8" name="text-7-64-614">
            <a:extLst xmlns:a="http://schemas.openxmlformats.org/drawingml/2006/main">
              <a:ext uri="{FF2B5EF4-FFF2-40B4-BE49-F238E27FC236}">
                <a16:creationId xmlns:a16="http://schemas.microsoft.com/office/drawing/2014/main" id="{CD451997-2D2F-480A-BF42-B6DA31C8E7EF}"/>
              </a:ext>
            </a:extLst>
          </p:cNvPr>
          <p:cNvSpPr>
            <a:spLocks xmlns:a="http://schemas.openxmlformats.org/drawingml/2006/main" noGrp="1"/>
          </p:cNvSpPr>
          <p:nvPr/>
        </p:nvSpPr>
        <p:spPr>
          <a:xfrm xmlns:a="http://schemas.openxmlformats.org/drawingml/2006/main">
            <a:off x="609600" y="58483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a:solidFill>
                  <a:srgbClr val="CDD5D6"/>
                </a:solidFill>
                <a:latin typeface="Arial"/>
                <a:ea typeface="Arial"/>
                <a:cs typeface="Arial"/>
              </a:defRPr>
            </a:pPr>
            <a:r>
              <a:rPr sz="1950">
                <a:solidFill>
                  <a:srgbClr val="CDD5D6"/>
                </a:solidFill>
                <a:latin typeface="Arial"/>
                <a:ea typeface="Arial"/>
                <a:cs typeface="Arial"/>
              </a:rPr>
              <a:t>L'exfiltration de données reste non démontrée.</a:t>
            </a:r>
          </a:p>
        </p:txBody>
      </p:sp>
    </p:spTree>
    <p:extLst>
      <p:ext uri="{BB962C8B-B14F-4D97-AF65-F5344CB8AC3E}">
        <p14:creationId xmlns:p14="http://schemas.microsoft.com/office/powerpoint/2010/main" val="19292848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8-64-42">
            <a:extLst xmlns:a="http://schemas.openxmlformats.org/drawingml/2006/main">
              <a:ext uri="{FF2B5EF4-FFF2-40B4-BE49-F238E27FC236}">
                <a16:creationId xmlns:a16="http://schemas.microsoft.com/office/drawing/2014/main" id="{96ABC841-82F3-4EF2-9764-F3C8F092BE5B}"/>
              </a:ext>
            </a:extLst>
          </p:cNvPr>
          <p:cNvSpPr>
            <a:spLocks xmlns:a="http://schemas.openxmlformats.org/drawingml/2006/main" noGrp="1"/>
          </p:cNvSpPr>
          <p:nvPr/>
        </p:nvSpPr>
        <p:spPr>
          <a:xfrm xmlns:a="http://schemas.openxmlformats.org/drawingml/2006/main">
            <a:off x="609600" y="4000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87D78"/>
                </a:solidFill>
                <a:latin typeface="Arial"/>
                <a:ea typeface="Arial"/>
                <a:cs typeface="Arial"/>
              </a:defRPr>
            </a:pPr>
            <a:r>
              <a:rPr sz="1425" b="1">
                <a:solidFill>
                  <a:srgbClr val="087D78"/>
                </a:solidFill>
                <a:latin typeface="Arial"/>
                <a:ea typeface="Arial"/>
                <a:cs typeface="Arial"/>
              </a:rPr>
              <a:t>US 6</a:t>
            </a:r>
          </a:p>
        </p:txBody>
      </p:sp>
      <p:sp>
        <p:nvSpPr>
          <p:cNvPr id="2" name="title">
            <a:extLst xmlns:a="http://schemas.openxmlformats.org/drawingml/2006/main">
              <a:ext uri="{FF2B5EF4-FFF2-40B4-BE49-F238E27FC236}">
                <a16:creationId xmlns:a16="http://schemas.microsoft.com/office/drawing/2014/main" id="{B1AC919E-8E18-49AC-95C5-7F9103A814F6}"/>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2527"/>
                </a:solidFill>
                <a:latin typeface="Arial"/>
                <a:ea typeface="Arial"/>
                <a:cs typeface="Arial"/>
              </a:defRPr>
            </a:pPr>
            <a:r>
              <a:rPr sz="3300" b="1">
                <a:solidFill>
                  <a:srgbClr val="202527"/>
                </a:solidFill>
                <a:latin typeface="Arial"/>
                <a:ea typeface="Arial"/>
                <a:cs typeface="Arial"/>
              </a:rPr>
              <a:t>Res.exe est actif dans la mémoire</a:t>
            </a:r>
          </a:p>
        </p:txBody>
      </p:sp>
      <p:sp>
        <p:nvSpPr>
          <p:cNvPr id="3" name="text-8-1156-673">
            <a:extLst xmlns:a="http://schemas.openxmlformats.org/drawingml/2006/main">
              <a:ext uri="{FF2B5EF4-FFF2-40B4-BE49-F238E27FC236}">
                <a16:creationId xmlns:a16="http://schemas.microsoft.com/office/drawing/2014/main" id="{0CE0B4DE-EB33-4370-B0CC-5FA30D033ECA}"/>
              </a:ext>
            </a:extLst>
          </p:cNvPr>
          <p:cNvSpPr>
            <a:spLocks xmlns:a="http://schemas.openxmlformats.org/drawingml/2006/main" noGrp="1"/>
          </p:cNvSpPr>
          <p:nvPr/>
        </p:nvSpPr>
        <p:spPr>
          <a:xfrm xmlns:a="http://schemas.openxmlformats.org/drawingml/2006/main">
            <a:off x="110109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60686C"/>
                </a:solidFill>
                <a:latin typeface="Arial"/>
                <a:ea typeface="Arial"/>
                <a:cs typeface="Arial"/>
              </a:defRPr>
            </a:pPr>
            <a:r>
              <a:rPr sz="1200">
                <a:solidFill>
                  <a:srgbClr val="60686C"/>
                </a:solidFill>
                <a:latin typeface="Arial"/>
                <a:ea typeface="Arial"/>
                <a:cs typeface="Arial"/>
              </a:rPr>
              <a:t>08</a:t>
            </a:r>
          </a:p>
        </p:txBody>
      </p:sp>
      <p:sp>
        <p:nvSpPr>
          <p:cNvPr id="4" name="text-8-64-210">
            <a:extLst xmlns:a="http://schemas.openxmlformats.org/drawingml/2006/main">
              <a:ext uri="{FF2B5EF4-FFF2-40B4-BE49-F238E27FC236}">
                <a16:creationId xmlns:a16="http://schemas.microsoft.com/office/drawing/2014/main" id="{10ADD9D5-FDD1-4A85-9DDD-DA4172402990}"/>
              </a:ext>
            </a:extLst>
          </p:cNvPr>
          <p:cNvSpPr>
            <a:spLocks xmlns:a="http://schemas.openxmlformats.org/drawingml/2006/main" noGrp="1"/>
          </p:cNvSpPr>
          <p:nvPr/>
        </p:nvSpPr>
        <p:spPr>
          <a:xfrm xmlns:a="http://schemas.openxmlformats.org/drawingml/2006/main">
            <a:off x="609600" y="2000250"/>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087D78"/>
                </a:solidFill>
                <a:latin typeface="Arial"/>
                <a:ea typeface="Arial"/>
                <a:cs typeface="Arial"/>
              </a:defRPr>
            </a:pPr>
            <a:r>
              <a:rPr sz="4500" b="1">
                <a:solidFill>
                  <a:srgbClr val="087D78"/>
                </a:solidFill>
                <a:latin typeface="Arial"/>
                <a:ea typeface="Arial"/>
                <a:cs typeface="Arial"/>
              </a:rPr>
              <a:t>PID 4504</a:t>
            </a:r>
          </a:p>
        </p:txBody>
      </p:sp>
      <p:sp>
        <p:nvSpPr>
          <p:cNvPr id="5" name="text-8-658-230">
            <a:extLst xmlns:a="http://schemas.openxmlformats.org/drawingml/2006/main">
              <a:ext uri="{FF2B5EF4-FFF2-40B4-BE49-F238E27FC236}">
                <a16:creationId xmlns:a16="http://schemas.microsoft.com/office/drawing/2014/main" id="{354E3638-9819-46E1-9E2A-45962DCDA411}"/>
              </a:ext>
            </a:extLst>
          </p:cNvPr>
          <p:cNvSpPr>
            <a:spLocks xmlns:a="http://schemas.openxmlformats.org/drawingml/2006/main" noGrp="1"/>
          </p:cNvSpPr>
          <p:nvPr/>
        </p:nvSpPr>
        <p:spPr>
          <a:xfrm xmlns:a="http://schemas.openxmlformats.org/drawingml/2006/main">
            <a:off x="6267450" y="2190750"/>
            <a:ext cx="5314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2527"/>
                </a:solidFill>
                <a:latin typeface="Arial"/>
                <a:ea typeface="Arial"/>
                <a:cs typeface="Arial"/>
              </a:defRPr>
            </a:pPr>
            <a:r>
              <a:rPr sz="2175" b="1">
                <a:solidFill>
                  <a:srgbClr val="202527"/>
                </a:solidFill>
                <a:latin typeface="Arial"/>
                <a:ea typeface="Arial"/>
                <a:cs typeface="Arial"/>
              </a:rPr>
              <a:t>32 bits sous Windows 10 x64</a:t>
            </a:r>
          </a:p>
        </p:txBody>
      </p:sp>
      <p:sp>
        <p:nvSpPr>
          <p:cNvPr id="6" name="text-8-64-329">
            <a:extLst xmlns:a="http://schemas.openxmlformats.org/drawingml/2006/main">
              <a:ext uri="{FF2B5EF4-FFF2-40B4-BE49-F238E27FC236}">
                <a16:creationId xmlns:a16="http://schemas.microsoft.com/office/drawing/2014/main" id="{947F30C4-3F3D-476E-BA9D-3F4599D3E78D}"/>
              </a:ext>
            </a:extLst>
          </p:cNvPr>
          <p:cNvSpPr>
            <a:spLocks xmlns:a="http://schemas.openxmlformats.org/drawingml/2006/main" noGrp="1"/>
          </p:cNvSpPr>
          <p:nvPr/>
        </p:nvSpPr>
        <p:spPr>
          <a:xfrm xmlns:a="http://schemas.openxmlformats.org/drawingml/2006/main">
            <a:off x="609600" y="31337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a:solidFill>
                  <a:srgbClr val="60686C"/>
                </a:solidFill>
                <a:latin typeface="Arial"/>
                <a:ea typeface="Arial"/>
                <a:cs typeface="Arial"/>
              </a:defRPr>
            </a:pPr>
            <a:r>
              <a:rPr sz="1650">
                <a:solidFill>
                  <a:srgbClr val="60686C"/>
                </a:solidFill>
                <a:latin typeface="Arial"/>
                <a:ea typeface="Arial"/>
                <a:cs typeface="Arial"/>
              </a:rPr>
              <a:t>Extrait de windows.pslist</a:t>
            </a:r>
          </a:p>
        </p:txBody>
      </p:sp>
      <p:sp>
        <p:nvSpPr>
          <p:cNvPr id="8" name="text-8-64-535">
            <a:extLst xmlns:a="http://schemas.openxmlformats.org/drawingml/2006/main">
              <a:ext uri="{FF2B5EF4-FFF2-40B4-BE49-F238E27FC236}">
                <a16:creationId xmlns:a16="http://schemas.microsoft.com/office/drawing/2014/main" id="{AE88119D-6A4B-4F38-A686-B947238C32AC}"/>
              </a:ext>
            </a:extLst>
          </p:cNvPr>
          <p:cNvSpPr>
            <a:spLocks xmlns:a="http://schemas.openxmlformats.org/drawingml/2006/main" noGrp="1"/>
          </p:cNvSpPr>
          <p:nvPr/>
        </p:nvSpPr>
        <p:spPr>
          <a:xfrm xmlns:a="http://schemas.openxmlformats.org/drawingml/2006/main">
            <a:off x="609600" y="5095875"/>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1400"/>
              </a:spcAft>
              <a:buChar char="•"/>
              <a:defRPr sz="2100">
                <a:solidFill>
                  <a:srgbClr val="202527"/>
                </a:solidFill>
                <a:latin typeface="Arial"/>
                <a:ea typeface="Arial"/>
                <a:cs typeface="Arial"/>
              </a:defRPr>
            </a:pPr>
            <a:r>
              <a:rPr sz="2100">
                <a:solidFill>
                  <a:srgbClr val="202527"/>
                </a:solidFill>
                <a:latin typeface="Arial"/>
                <a:ea typeface="Arial"/>
                <a:cs typeface="Arial"/>
              </a:rPr>
              <a:t>Parent : explorer.exe (PID 2712)</a:t>
            </a:r>
          </a:p>
          <a:p xmlns:a="http://schemas.openxmlformats.org/drawingml/2006/main">
            <a:pPr marL="228600" indent="-114300" algn="l">
              <a:spcAft>
                <a:spcPts val="1400"/>
              </a:spcAft>
              <a:buChar char="•"/>
              <a:defRPr sz="2100">
                <a:solidFill>
                  <a:srgbClr val="202527"/>
                </a:solidFill>
                <a:latin typeface="Arial"/>
                <a:ea typeface="Arial"/>
                <a:cs typeface="Arial"/>
              </a:defRPr>
            </a:pPr>
            <a:r>
              <a:rPr sz="2100">
                <a:solidFill>
                  <a:srgbClr val="202527"/>
                </a:solidFill>
                <a:latin typeface="Arial"/>
                <a:ea typeface="Arial"/>
                <a:cs typeface="Arial"/>
              </a:rPr>
              <a:t>Aucun résultat netscan ou malfind pour ce PID</a:t>
            </a:r>
          </a:p>
        </p:txBody>
      </p:sp>
      <p:pic>
        <p:nvPicPr>
          <p:cNvPr id="15" name="" descr="Extrait de pslist : PID 4504, parent 2712, nom Res.exe et indicateur WoW64."/>
          <p:cNvPicPr>
            <a:picLocks xmlns:a="http://schemas.openxmlformats.org/drawingml/2006/main" noChangeAspect="1"/>
          </p:cNvPicPr>
          <p:nvPr/>
        </p:nvPicPr>
        <p:blipFill>
          <a:blip xmlns:r="http://schemas.openxmlformats.org/officeDocument/2006/relationships" xmlns:a="http://schemas.openxmlformats.org/drawingml/2006/main" r:embed="Rcc7581d75d12416e"/>
          <a:srcRect xmlns:a="http://schemas.openxmlformats.org/drawingml/2006/main" l="0" t="30000" r="41000" b="0"/>
          <a:stretch xmlns:a="http://schemas.openxmlformats.org/drawingml/2006/main">
            <a:fillRect l="0" t="0" r="0" b="0"/>
          </a:stretch>
        </p:blipFill>
        <p:spPr>
          <a:xfrm xmlns:a="http://schemas.openxmlformats.org/drawingml/2006/main">
            <a:off x="609600" y="3543300"/>
            <a:ext cx="10972800" cy="691331"/>
          </a:xfrm>
          <a:prstGeom xmlns:a="http://schemas.openxmlformats.org/drawingml/2006/main" prst="rect">
            <a:avLst/>
          </a:prstGeom>
        </p:spPr>
      </p:pic>
    </p:spTree>
    <p:extLst>
      <p:ext uri="{BB962C8B-B14F-4D97-AF65-F5344CB8AC3E}">
        <p14:creationId xmlns:p14="http://schemas.microsoft.com/office/powerpoint/2010/main" val="142606977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9-64-42">
            <a:extLst xmlns:a="http://schemas.openxmlformats.org/drawingml/2006/main">
              <a:ext uri="{FF2B5EF4-FFF2-40B4-BE49-F238E27FC236}">
                <a16:creationId xmlns:a16="http://schemas.microsoft.com/office/drawing/2014/main" id="{0A81B4A3-1EB1-44BD-B68C-165256633103}"/>
              </a:ext>
            </a:extLst>
          </p:cNvPr>
          <p:cNvSpPr>
            <a:spLocks xmlns:a="http://schemas.openxmlformats.org/drawingml/2006/main" noGrp="1"/>
          </p:cNvSpPr>
          <p:nvPr/>
        </p:nvSpPr>
        <p:spPr>
          <a:xfrm xmlns:a="http://schemas.openxmlformats.org/drawingml/2006/main">
            <a:off x="609600" y="4000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87D78"/>
                </a:solidFill>
                <a:latin typeface="Arial"/>
                <a:ea typeface="Arial"/>
                <a:cs typeface="Arial"/>
              </a:defRPr>
            </a:pPr>
            <a:r>
              <a:rPr sz="1425" b="1">
                <a:solidFill>
                  <a:srgbClr val="087D78"/>
                </a:solidFill>
                <a:latin typeface="Arial"/>
                <a:ea typeface="Arial"/>
                <a:cs typeface="Arial"/>
              </a:rPr>
              <a:t>US 7</a:t>
            </a:r>
          </a:p>
        </p:txBody>
      </p:sp>
      <p:sp>
        <p:nvSpPr>
          <p:cNvPr id="2" name="title">
            <a:extLst xmlns:a="http://schemas.openxmlformats.org/drawingml/2006/main">
              <a:ext uri="{FF2B5EF4-FFF2-40B4-BE49-F238E27FC236}">
                <a16:creationId xmlns:a16="http://schemas.microsoft.com/office/drawing/2014/main" id="{B0BC81BF-398E-4493-A87F-A95FCB1BFD81}"/>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2527"/>
                </a:solidFill>
                <a:latin typeface="Arial"/>
                <a:ea typeface="Arial"/>
                <a:cs typeface="Arial"/>
              </a:defRPr>
            </a:pPr>
            <a:r>
              <a:rPr sz="3300" b="1">
                <a:solidFill>
                  <a:srgbClr val="202527"/>
                </a:solidFill>
                <a:latin typeface="Arial"/>
                <a:ea typeface="Arial"/>
                <a:cs typeface="Arial"/>
              </a:rPr>
              <a:t>Une copie disque vérifiée par SHA-256</a:t>
            </a:r>
          </a:p>
        </p:txBody>
      </p:sp>
      <p:sp>
        <p:nvSpPr>
          <p:cNvPr id="3" name="text-9-1156-673">
            <a:extLst xmlns:a="http://schemas.openxmlformats.org/drawingml/2006/main">
              <a:ext uri="{FF2B5EF4-FFF2-40B4-BE49-F238E27FC236}">
                <a16:creationId xmlns:a16="http://schemas.microsoft.com/office/drawing/2014/main" id="{2B3B7AA0-F6B9-4EEE-8840-4649C3CB1C8C}"/>
              </a:ext>
            </a:extLst>
          </p:cNvPr>
          <p:cNvSpPr>
            <a:spLocks xmlns:a="http://schemas.openxmlformats.org/drawingml/2006/main" noGrp="1"/>
          </p:cNvSpPr>
          <p:nvPr/>
        </p:nvSpPr>
        <p:spPr>
          <a:xfrm xmlns:a="http://schemas.openxmlformats.org/drawingml/2006/main">
            <a:off x="110109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60686C"/>
                </a:solidFill>
                <a:latin typeface="Arial"/>
                <a:ea typeface="Arial"/>
                <a:cs typeface="Arial"/>
              </a:defRPr>
            </a:pPr>
            <a:r>
              <a:rPr sz="1200">
                <a:solidFill>
                  <a:srgbClr val="60686C"/>
                </a:solidFill>
                <a:latin typeface="Arial"/>
                <a:ea typeface="Arial"/>
                <a:cs typeface="Arial"/>
              </a:rPr>
              <a:t>09</a:t>
            </a:r>
          </a:p>
        </p:txBody>
      </p:sp>
      <p:sp>
        <p:nvSpPr>
          <p:cNvPr id="4" name="text-9-64-203">
            <a:extLst xmlns:a="http://schemas.openxmlformats.org/drawingml/2006/main">
              <a:ext uri="{FF2B5EF4-FFF2-40B4-BE49-F238E27FC236}">
                <a16:creationId xmlns:a16="http://schemas.microsoft.com/office/drawing/2014/main" id="{194BA2A7-7300-45A2-B674-8CC3EB5A5EDA}"/>
              </a:ext>
            </a:extLst>
          </p:cNvPr>
          <p:cNvSpPr>
            <a:spLocks xmlns:a="http://schemas.openxmlformats.org/drawingml/2006/main" noGrp="1"/>
          </p:cNvSpPr>
          <p:nvPr/>
        </p:nvSpPr>
        <p:spPr>
          <a:xfrm xmlns:a="http://schemas.openxmlformats.org/drawingml/2006/main">
            <a:off x="609600" y="19335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87D78"/>
                </a:solidFill>
                <a:latin typeface="Arial"/>
                <a:ea typeface="Arial"/>
                <a:cs typeface="Arial"/>
              </a:defRPr>
            </a:pPr>
            <a:r>
              <a:rPr sz="2250" b="1">
                <a:solidFill>
                  <a:srgbClr val="087D78"/>
                </a:solidFill>
                <a:latin typeface="Arial"/>
                <a:ea typeface="Arial"/>
                <a:cs typeface="Arial"/>
              </a:rPr>
              <a:t>Windows.vdi et Windows-forensic.vdi</a:t>
            </a:r>
          </a:p>
        </p:txBody>
      </p:sp>
      <p:sp>
        <p:nvSpPr>
          <p:cNvPr id="6" name="text-9-64-536">
            <a:extLst xmlns:a="http://schemas.openxmlformats.org/drawingml/2006/main">
              <a:ext uri="{FF2B5EF4-FFF2-40B4-BE49-F238E27FC236}">
                <a16:creationId xmlns:a16="http://schemas.microsoft.com/office/drawing/2014/main" id="{E32BE68D-CE96-431C-BB95-1D3C8F0E1394}"/>
              </a:ext>
            </a:extLst>
          </p:cNvPr>
          <p:cNvSpPr>
            <a:spLocks xmlns:a="http://schemas.openxmlformats.org/drawingml/2006/main" noGrp="1"/>
          </p:cNvSpPr>
          <p:nvPr/>
        </p:nvSpPr>
        <p:spPr>
          <a:xfrm xmlns:a="http://schemas.openxmlformats.org/drawingml/2006/main">
            <a:off x="609600" y="51054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1400"/>
              </a:spcAft>
              <a:buChar char="•"/>
              <a:defRPr sz="2175">
                <a:solidFill>
                  <a:srgbClr val="202527"/>
                </a:solidFill>
                <a:latin typeface="Arial"/>
                <a:ea typeface="Arial"/>
                <a:cs typeface="Arial"/>
              </a:defRPr>
            </a:pPr>
            <a:r>
              <a:rPr sz="2175">
                <a:solidFill>
                  <a:srgbClr val="202527"/>
                </a:solidFill>
                <a:latin typeface="Arial"/>
                <a:ea typeface="Arial"/>
                <a:cs typeface="Arial"/>
              </a:rPr>
              <a:t>SHA-256 identiques après la copie</a:t>
            </a:r>
          </a:p>
          <a:p xmlns:a="http://schemas.openxmlformats.org/drawingml/2006/main">
            <a:pPr marL="228600" indent="-114300" algn="l">
              <a:spcAft>
                <a:spcPts val="1400"/>
              </a:spcAft>
              <a:buChar char="•"/>
              <a:defRPr sz="2175">
                <a:solidFill>
                  <a:srgbClr val="202527"/>
                </a:solidFill>
                <a:latin typeface="Arial"/>
                <a:ea typeface="Arial"/>
                <a:cs typeface="Arial"/>
              </a:defRPr>
            </a:pPr>
            <a:r>
              <a:rPr sz="2175">
                <a:solidFill>
                  <a:srgbClr val="202527"/>
                </a:solidFill>
                <a:latin typeface="Arial"/>
                <a:ea typeface="Arial"/>
                <a:cs typeface="Arial"/>
              </a:rPr>
              <a:t>VHD de travail monté en lecture seule</a:t>
            </a:r>
          </a:p>
        </p:txBody>
      </p:sp>
      <p:pic>
        <p:nvPicPr>
          <p:cNvPr id="11" name="" descr="Comparaison Get-FileHash : les fichiers VDI source et copie ont le même SHA-256."/>
          <p:cNvPicPr>
            <a:picLocks xmlns:a="http://schemas.openxmlformats.org/drawingml/2006/main" noChangeAspect="1"/>
          </p:cNvPicPr>
          <p:nvPr/>
        </p:nvPicPr>
        <p:blipFill>
          <a:blip xmlns:r="http://schemas.openxmlformats.org/officeDocument/2006/relationships" xmlns:a="http://schemas.openxmlformats.org/drawingml/2006/main" r:embed="R0007671ebeaa4b04"/>
          <a:srcRect xmlns:a="http://schemas.openxmlformats.org/drawingml/2006/main" l="0" t="0" r="0" b="0"/>
          <a:stretch xmlns:a="http://schemas.openxmlformats.org/drawingml/2006/main">
            <a:fillRect l="0" t="0" r="0" b="0"/>
          </a:stretch>
        </p:blipFill>
        <p:spPr>
          <a:xfrm xmlns:a="http://schemas.openxmlformats.org/drawingml/2006/main">
            <a:off x="609600" y="2657475"/>
            <a:ext cx="10972800" cy="1954696"/>
          </a:xfrm>
          <a:prstGeom xmlns:a="http://schemas.openxmlformats.org/drawingml/2006/main" prst="rect">
            <a:avLst/>
          </a:prstGeom>
        </p:spPr>
      </p:pic>
    </p:spTree>
    <p:extLst>
      <p:ext uri="{BB962C8B-B14F-4D97-AF65-F5344CB8AC3E}">
        <p14:creationId xmlns:p14="http://schemas.microsoft.com/office/powerpoint/2010/main" val="4499662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0-64-42">
            <a:extLst xmlns:a="http://schemas.openxmlformats.org/drawingml/2006/main">
              <a:ext uri="{FF2B5EF4-FFF2-40B4-BE49-F238E27FC236}">
                <a16:creationId xmlns:a16="http://schemas.microsoft.com/office/drawing/2014/main" id="{1D15F4B5-FC34-4F5B-81EA-10740E2A7560}"/>
              </a:ext>
            </a:extLst>
          </p:cNvPr>
          <p:cNvSpPr>
            <a:spLocks xmlns:a="http://schemas.openxmlformats.org/drawingml/2006/main" noGrp="1"/>
          </p:cNvSpPr>
          <p:nvPr/>
        </p:nvSpPr>
        <p:spPr>
          <a:xfrm xmlns:a="http://schemas.openxmlformats.org/drawingml/2006/main">
            <a:off x="609600" y="4000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87D78"/>
                </a:solidFill>
                <a:latin typeface="Arial"/>
                <a:ea typeface="Arial"/>
                <a:cs typeface="Arial"/>
              </a:defRPr>
            </a:pPr>
            <a:r>
              <a:rPr sz="1425" b="1">
                <a:solidFill>
                  <a:srgbClr val="087D78"/>
                </a:solidFill>
                <a:latin typeface="Arial"/>
                <a:ea typeface="Arial"/>
                <a:cs typeface="Arial"/>
              </a:rPr>
              <a:t>US 8</a:t>
            </a:r>
          </a:p>
        </p:txBody>
      </p:sp>
      <p:sp>
        <p:nvSpPr>
          <p:cNvPr id="2" name="title">
            <a:extLst xmlns:a="http://schemas.openxmlformats.org/drawingml/2006/main">
              <a:ext uri="{FF2B5EF4-FFF2-40B4-BE49-F238E27FC236}">
                <a16:creationId xmlns:a16="http://schemas.microsoft.com/office/drawing/2014/main" id="{AF1D792D-E5DC-4EBB-B4DC-52E1AFD69DF0}"/>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2527"/>
                </a:solidFill>
                <a:latin typeface="Arial"/>
                <a:ea typeface="Arial"/>
                <a:cs typeface="Arial"/>
              </a:defRPr>
            </a:pPr>
            <a:r>
              <a:rPr sz="3300" b="1">
                <a:solidFill>
                  <a:srgbClr val="202527"/>
                </a:solidFill>
                <a:latin typeface="Arial"/>
                <a:ea typeface="Arial"/>
                <a:cs typeface="Arial"/>
              </a:rPr>
              <a:t>Res.exe : la mémoire rejoint le disque</a:t>
            </a:r>
          </a:p>
        </p:txBody>
      </p:sp>
      <p:sp>
        <p:nvSpPr>
          <p:cNvPr id="3" name="text-10-1156-673">
            <a:extLst xmlns:a="http://schemas.openxmlformats.org/drawingml/2006/main">
              <a:ext uri="{FF2B5EF4-FFF2-40B4-BE49-F238E27FC236}">
                <a16:creationId xmlns:a16="http://schemas.microsoft.com/office/drawing/2014/main" id="{5582FC57-9D4C-4F71-A211-90336C0282A0}"/>
              </a:ext>
            </a:extLst>
          </p:cNvPr>
          <p:cNvSpPr>
            <a:spLocks xmlns:a="http://schemas.openxmlformats.org/drawingml/2006/main" noGrp="1"/>
          </p:cNvSpPr>
          <p:nvPr/>
        </p:nvSpPr>
        <p:spPr>
          <a:xfrm xmlns:a="http://schemas.openxmlformats.org/drawingml/2006/main">
            <a:off x="110109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60686C"/>
                </a:solidFill>
                <a:latin typeface="Arial"/>
                <a:ea typeface="Arial"/>
                <a:cs typeface="Arial"/>
              </a:defRPr>
            </a:pPr>
            <a:r>
              <a:rPr sz="1200">
                <a:solidFill>
                  <a:srgbClr val="60686C"/>
                </a:solidFill>
                <a:latin typeface="Arial"/>
                <a:ea typeface="Arial"/>
                <a:cs typeface="Arial"/>
              </a:rPr>
              <a:t>10</a:t>
            </a:r>
          </a:p>
        </p:txBody>
      </p:sp>
      <p:sp>
        <p:nvSpPr>
          <p:cNvPr id="4" name="text-10-64-193">
            <a:extLst xmlns:a="http://schemas.openxmlformats.org/drawingml/2006/main">
              <a:ext uri="{FF2B5EF4-FFF2-40B4-BE49-F238E27FC236}">
                <a16:creationId xmlns:a16="http://schemas.microsoft.com/office/drawing/2014/main" id="{FB028404-EDC9-4EA5-9B93-317756741E73}"/>
              </a:ext>
            </a:extLst>
          </p:cNvPr>
          <p:cNvSpPr>
            <a:spLocks xmlns:a="http://schemas.openxmlformats.org/drawingml/2006/main" noGrp="1"/>
          </p:cNvSpPr>
          <p:nvPr/>
        </p:nvSpPr>
        <p:spPr>
          <a:xfrm xmlns:a="http://schemas.openxmlformats.org/drawingml/2006/main">
            <a:off x="609600" y="18383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87D78"/>
                </a:solidFill>
                <a:latin typeface="Arial"/>
                <a:ea typeface="Arial"/>
                <a:cs typeface="Arial"/>
              </a:defRPr>
            </a:pPr>
            <a:r>
              <a:rPr sz="1950" b="1">
                <a:solidFill>
                  <a:srgbClr val="087D78"/>
                </a:solidFill>
                <a:latin typeface="Arial"/>
                <a:ea typeface="Arial"/>
                <a:cs typeface="Arial"/>
              </a:rPr>
              <a:t>Mémoire : ligne de commande du PID 4504</a:t>
            </a:r>
          </a:p>
        </p:txBody>
      </p:sp>
      <p:sp>
        <p:nvSpPr>
          <p:cNvPr id="6" name="text-10-64-426">
            <a:extLst xmlns:a="http://schemas.openxmlformats.org/drawingml/2006/main">
              <a:ext uri="{FF2B5EF4-FFF2-40B4-BE49-F238E27FC236}">
                <a16:creationId xmlns:a16="http://schemas.microsoft.com/office/drawing/2014/main" id="{893D29C3-E7A0-483F-BF66-B3D7822E0848}"/>
              </a:ext>
            </a:extLst>
          </p:cNvPr>
          <p:cNvSpPr>
            <a:spLocks xmlns:a="http://schemas.openxmlformats.org/drawingml/2006/main" noGrp="1"/>
          </p:cNvSpPr>
          <p:nvPr/>
        </p:nvSpPr>
        <p:spPr>
          <a:xfrm xmlns:a="http://schemas.openxmlformats.org/drawingml/2006/main">
            <a:off x="609600" y="40576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87D78"/>
                </a:solidFill>
                <a:latin typeface="Arial"/>
                <a:ea typeface="Arial"/>
                <a:cs typeface="Arial"/>
              </a:defRPr>
            </a:pPr>
            <a:r>
              <a:rPr sz="1950" b="1">
                <a:solidFill>
                  <a:srgbClr val="087D78"/>
                </a:solidFill>
                <a:latin typeface="Arial"/>
                <a:ea typeface="Arial"/>
                <a:cs typeface="Arial"/>
              </a:rPr>
              <a:t>Disque monté : E:\WindSyst\Res.exe</a:t>
            </a:r>
          </a:p>
        </p:txBody>
      </p:sp>
      <p:sp>
        <p:nvSpPr>
          <p:cNvPr id="8" name="text-10-64-623">
            <a:extLst xmlns:a="http://schemas.openxmlformats.org/drawingml/2006/main">
              <a:ext uri="{FF2B5EF4-FFF2-40B4-BE49-F238E27FC236}">
                <a16:creationId xmlns:a16="http://schemas.microsoft.com/office/drawing/2014/main" id="{42E0217E-D8E2-49D3-8D2D-5AF0847600B3}"/>
              </a:ext>
            </a:extLst>
          </p:cNvPr>
          <p:cNvSpPr>
            <a:spLocks xmlns:a="http://schemas.openxmlformats.org/drawingml/2006/main" noGrp="1"/>
          </p:cNvSpPr>
          <p:nvPr/>
        </p:nvSpPr>
        <p:spPr>
          <a:xfrm xmlns:a="http://schemas.openxmlformats.org/drawingml/2006/main">
            <a:off x="609600" y="59340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a:solidFill>
                  <a:srgbClr val="60686C"/>
                </a:solidFill>
                <a:latin typeface="Arial"/>
                <a:ea typeface="Arial"/>
                <a:cs typeface="Arial"/>
              </a:defRPr>
            </a:pPr>
            <a:r>
              <a:rPr sz="1875">
                <a:solidFill>
                  <a:srgbClr val="60686C"/>
                </a:solidFill>
                <a:latin typeface="Arial"/>
                <a:ea typeface="Arial"/>
                <a:cs typeface="Arial"/>
              </a:rPr>
              <a:t>Corrélation par nom et chemin. Identité binaire non vérifiée.</a:t>
            </a:r>
          </a:p>
        </p:txBody>
      </p:sp>
      <p:pic>
        <p:nvPicPr>
          <p:cNvPr id="13" name="" descr="windows.cmdline montre Res.exe exécuté depuis C:\WindSyst."/>
          <p:cNvPicPr>
            <a:picLocks xmlns:a="http://schemas.openxmlformats.org/drawingml/2006/main" noChangeAspect="1"/>
          </p:cNvPicPr>
          <p:nvPr/>
        </p:nvPicPr>
        <p:blipFill>
          <a:blip xmlns:r="http://schemas.openxmlformats.org/officeDocument/2006/relationships" xmlns:a="http://schemas.openxmlformats.org/drawingml/2006/main" r:embed="Rd9b965be5d824a89"/>
          <a:srcRect xmlns:a="http://schemas.openxmlformats.org/drawingml/2006/main" l="0" t="0" r="0" b="50000"/>
          <a:stretch xmlns:a="http://schemas.openxmlformats.org/drawingml/2006/main">
            <a:fillRect l="0" t="0" r="0" b="0"/>
          </a:stretch>
        </p:blipFill>
        <p:spPr>
          <a:xfrm xmlns:a="http://schemas.openxmlformats.org/drawingml/2006/main">
            <a:off x="609600" y="2257425"/>
            <a:ext cx="10869435" cy="1457325"/>
          </a:xfrm>
          <a:prstGeom xmlns:a="http://schemas.openxmlformats.org/drawingml/2006/main" prst="rect">
            <a:avLst/>
          </a:prstGeom>
        </p:spPr>
      </p:pic>
      <p:pic>
        <p:nvPicPr>
          <p:cNvPr id="15" name="" descr="Présence de Res.exe dans WindSyst sur le VHD monté en E:."/>
          <p:cNvPicPr>
            <a:picLocks xmlns:a="http://schemas.openxmlformats.org/drawingml/2006/main" noChangeAspect="1"/>
          </p:cNvPicPr>
          <p:nvPr/>
        </p:nvPicPr>
        <p:blipFill>
          <a:blip xmlns:r="http://schemas.openxmlformats.org/officeDocument/2006/relationships" xmlns:a="http://schemas.openxmlformats.org/drawingml/2006/main" r:embed="R0006c4bd6e4e49b2"/>
          <a:srcRect xmlns:a="http://schemas.openxmlformats.org/drawingml/2006/main" l="0" t="0" r="0" b="0"/>
          <a:stretch xmlns:a="http://schemas.openxmlformats.org/drawingml/2006/main">
            <a:fillRect l="0" t="0" r="0" b="0"/>
          </a:stretch>
        </p:blipFill>
        <p:spPr>
          <a:xfrm xmlns:a="http://schemas.openxmlformats.org/drawingml/2006/main">
            <a:off x="609600" y="4476750"/>
            <a:ext cx="10972800" cy="1085499"/>
          </a:xfrm>
          <a:prstGeom xmlns:a="http://schemas.openxmlformats.org/drawingml/2006/main" prst="rect">
            <a:avLst/>
          </a:prstGeom>
        </p:spPr>
      </p:pic>
    </p:spTree>
    <p:extLst>
      <p:ext uri="{BB962C8B-B14F-4D97-AF65-F5344CB8AC3E}">
        <p14:creationId xmlns:p14="http://schemas.microsoft.com/office/powerpoint/2010/main" val="182271443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1-64-42">
            <a:extLst xmlns:a="http://schemas.openxmlformats.org/drawingml/2006/main">
              <a:ext uri="{FF2B5EF4-FFF2-40B4-BE49-F238E27FC236}">
                <a16:creationId xmlns:a16="http://schemas.microsoft.com/office/drawing/2014/main" id="{498E5A90-270A-4692-935F-7190231A242F}"/>
              </a:ext>
            </a:extLst>
          </p:cNvPr>
          <p:cNvSpPr>
            <a:spLocks xmlns:a="http://schemas.openxmlformats.org/drawingml/2006/main" noGrp="1"/>
          </p:cNvSpPr>
          <p:nvPr/>
        </p:nvSpPr>
        <p:spPr>
          <a:xfrm xmlns:a="http://schemas.openxmlformats.org/drawingml/2006/main">
            <a:off x="609600" y="4000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87D78"/>
                </a:solidFill>
                <a:latin typeface="Arial"/>
                <a:ea typeface="Arial"/>
                <a:cs typeface="Arial"/>
              </a:defRPr>
            </a:pPr>
            <a:r>
              <a:rPr sz="1425" b="1">
                <a:solidFill>
                  <a:srgbClr val="087D78"/>
                </a:solidFill>
                <a:latin typeface="Arial"/>
                <a:ea typeface="Arial"/>
                <a:cs typeface="Arial"/>
              </a:rPr>
              <a:t>US 8</a:t>
            </a:r>
          </a:p>
        </p:txBody>
      </p:sp>
      <p:sp>
        <p:nvSpPr>
          <p:cNvPr id="2" name="title">
            <a:extLst xmlns:a="http://schemas.openxmlformats.org/drawingml/2006/main">
              <a:ext uri="{FF2B5EF4-FFF2-40B4-BE49-F238E27FC236}">
                <a16:creationId xmlns:a16="http://schemas.microsoft.com/office/drawing/2014/main" id="{860B7F30-A796-4B29-8AB5-C197F9C5A925}"/>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2527"/>
                </a:solidFill>
                <a:latin typeface="Arial"/>
                <a:ea typeface="Arial"/>
                <a:cs typeface="Arial"/>
              </a:defRPr>
            </a:pPr>
            <a:r>
              <a:rPr sz="3300" b="1">
                <a:solidFill>
                  <a:srgbClr val="202527"/>
                </a:solidFill>
                <a:latin typeface="Arial"/>
                <a:ea typeface="Arial"/>
                <a:cs typeface="Arial"/>
              </a:rPr>
              <a:t>La persistance reste à localiser</a:t>
            </a:r>
          </a:p>
        </p:txBody>
      </p:sp>
      <p:sp>
        <p:nvSpPr>
          <p:cNvPr id="3" name="text-11-1156-673">
            <a:extLst xmlns:a="http://schemas.openxmlformats.org/drawingml/2006/main">
              <a:ext uri="{FF2B5EF4-FFF2-40B4-BE49-F238E27FC236}">
                <a16:creationId xmlns:a16="http://schemas.microsoft.com/office/drawing/2014/main" id="{672E5CE8-0E34-4ABC-A8B1-FE30BCCF848A}"/>
              </a:ext>
            </a:extLst>
          </p:cNvPr>
          <p:cNvSpPr>
            <a:spLocks xmlns:a="http://schemas.openxmlformats.org/drawingml/2006/main" noGrp="1"/>
          </p:cNvSpPr>
          <p:nvPr/>
        </p:nvSpPr>
        <p:spPr>
          <a:xfrm xmlns:a="http://schemas.openxmlformats.org/drawingml/2006/main">
            <a:off x="110109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60686C"/>
                </a:solidFill>
                <a:latin typeface="Arial"/>
                <a:ea typeface="Arial"/>
                <a:cs typeface="Arial"/>
              </a:defRPr>
            </a:pPr>
            <a:r>
              <a:rPr sz="1200">
                <a:solidFill>
                  <a:srgbClr val="60686C"/>
                </a:solidFill>
                <a:latin typeface="Arial"/>
                <a:ea typeface="Arial"/>
                <a:cs typeface="Arial"/>
              </a:rPr>
              <a:t>11</a:t>
            </a:r>
          </a:p>
        </p:txBody>
      </p:sp>
      <p:sp>
        <p:nvSpPr>
          <p:cNvPr id="5" name="text-11-846-214">
            <a:extLst xmlns:a="http://schemas.openxmlformats.org/drawingml/2006/main">
              <a:ext uri="{FF2B5EF4-FFF2-40B4-BE49-F238E27FC236}">
                <a16:creationId xmlns:a16="http://schemas.microsoft.com/office/drawing/2014/main" id="{B6CB139A-89DD-43D8-968B-A76B3449C573}"/>
              </a:ext>
            </a:extLst>
          </p:cNvPr>
          <p:cNvSpPr>
            <a:spLocks xmlns:a="http://schemas.openxmlformats.org/drawingml/2006/main" noGrp="1"/>
          </p:cNvSpPr>
          <p:nvPr/>
        </p:nvSpPr>
        <p:spPr>
          <a:xfrm xmlns:a="http://schemas.openxmlformats.org/drawingml/2006/main">
            <a:off x="8058150" y="2038350"/>
            <a:ext cx="352425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1400"/>
              </a:spcAft>
              <a:buChar char="•"/>
              <a:defRPr sz="2100">
                <a:solidFill>
                  <a:srgbClr val="202527"/>
                </a:solidFill>
                <a:latin typeface="Arial"/>
                <a:ea typeface="Arial"/>
                <a:cs typeface="Arial"/>
              </a:defRPr>
            </a:pPr>
            <a:r>
              <a:rPr sz="2100">
                <a:solidFill>
                  <a:srgbClr val="202527"/>
                </a:solidFill>
                <a:latin typeface="Arial"/>
                <a:ea typeface="Arial"/>
                <a:cs typeface="Arial"/>
              </a:rPr>
              <a:t>Env et Res.exe activés au démarrage</a:t>
            </a:r>
          </a:p>
          <a:p xmlns:a="http://schemas.openxmlformats.org/drawingml/2006/main">
            <a:pPr marL="228600" indent="-114300" algn="l">
              <a:spcAft>
                <a:spcPts val="1400"/>
              </a:spcAft>
              <a:buChar char="•"/>
              <a:defRPr sz="2100">
                <a:solidFill>
                  <a:srgbClr val="202527"/>
                </a:solidFill>
                <a:latin typeface="Arial"/>
                <a:ea typeface="Arial"/>
                <a:cs typeface="Arial"/>
              </a:defRPr>
            </a:pPr>
            <a:r>
              <a:rPr sz="2100">
                <a:solidFill>
                  <a:srgbClr val="202527"/>
                </a:solidFill>
                <a:latin typeface="Arial"/>
                <a:ea typeface="Arial"/>
                <a:cs typeface="Arial"/>
              </a:rPr>
              <a:t>Aucune entrée pertinente dans les recherches menées</a:t>
            </a:r>
          </a:p>
          <a:p xmlns:a="http://schemas.openxmlformats.org/drawingml/2006/main">
            <a:pPr marL="228600" indent="-114300" algn="l">
              <a:spcAft>
                <a:spcPts val="1400"/>
              </a:spcAft>
              <a:buChar char="•"/>
              <a:defRPr sz="2100">
                <a:solidFill>
                  <a:srgbClr val="202527"/>
                </a:solidFill>
                <a:latin typeface="Arial"/>
                <a:ea typeface="Arial"/>
                <a:cs typeface="Arial"/>
              </a:defRPr>
            </a:pPr>
            <a:r>
              <a:rPr sz="2100">
                <a:solidFill>
                  <a:srgbClr val="202527"/>
                </a:solidFill>
                <a:latin typeface="Arial"/>
                <a:ea typeface="Arial"/>
                <a:cs typeface="Arial"/>
              </a:rPr>
              <a:t>Ruche utilisateur HKCU à vérifier</a:t>
            </a:r>
          </a:p>
        </p:txBody>
      </p:sp>
      <p:sp>
        <p:nvSpPr>
          <p:cNvPr id="6" name="text-11-64-614">
            <a:extLst xmlns:a="http://schemas.openxmlformats.org/drawingml/2006/main">
              <a:ext uri="{FF2B5EF4-FFF2-40B4-BE49-F238E27FC236}">
                <a16:creationId xmlns:a16="http://schemas.microsoft.com/office/drawing/2014/main" id="{F88576C2-C31E-407A-82AF-B1F323F429CA}"/>
              </a:ext>
            </a:extLst>
          </p:cNvPr>
          <p:cNvSpPr>
            <a:spLocks xmlns:a="http://schemas.openxmlformats.org/drawingml/2006/main" noGrp="1"/>
          </p:cNvSpPr>
          <p:nvPr/>
        </p:nvSpPr>
        <p:spPr>
          <a:xfrm xmlns:a="http://schemas.openxmlformats.org/drawingml/2006/main">
            <a:off x="609600" y="58483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D78"/>
                </a:solidFill>
                <a:latin typeface="Arial"/>
                <a:ea typeface="Arial"/>
                <a:cs typeface="Arial"/>
              </a:defRPr>
            </a:pPr>
            <a:r>
              <a:rPr sz="1875" b="1">
                <a:solidFill>
                  <a:srgbClr val="087D78"/>
                </a:solidFill>
                <a:latin typeface="Arial"/>
                <a:ea typeface="Arial"/>
                <a:cs typeface="Arial"/>
              </a:rPr>
              <a:t>Piste prioritaire : NTUSER.DAT et la clé Run de l'utilisateur.</a:t>
            </a:r>
          </a:p>
        </p:txBody>
      </p:sp>
      <p:pic>
        <p:nvPicPr>
          <p:cNvPr id="10" name="" descr="Applications de démarrage Windows : Env et Res.exe ont le statut Activé."/>
          <p:cNvPicPr>
            <a:picLocks xmlns:a="http://schemas.openxmlformats.org/drawingml/2006/main" noChangeAspect="1"/>
          </p:cNvPicPr>
          <p:nvPr/>
        </p:nvPicPr>
        <p:blipFill>
          <a:blip xmlns:r="http://schemas.openxmlformats.org/officeDocument/2006/relationships" xmlns:a="http://schemas.openxmlformats.org/drawingml/2006/main" r:embed="Rbd115e380e9b41f1"/>
          <a:srcRect xmlns:a="http://schemas.openxmlformats.org/drawingml/2006/main" l="13300" t="10500" r="27400" b="45100"/>
          <a:stretch xmlns:a="http://schemas.openxmlformats.org/drawingml/2006/main">
            <a:fillRect l="0" t="0" r="0" b="0"/>
          </a:stretch>
        </p:blipFill>
        <p:spPr>
          <a:xfrm xmlns:a="http://schemas.openxmlformats.org/drawingml/2006/main">
            <a:off x="609600" y="1990725"/>
            <a:ext cx="6972300" cy="3374534"/>
          </a:xfrm>
          <a:prstGeom xmlns:a="http://schemas.openxmlformats.org/drawingml/2006/main" prst="rect">
            <a:avLst/>
          </a:prstGeom>
        </p:spPr>
      </p:pic>
    </p:spTree>
    <p:extLst>
      <p:ext uri="{BB962C8B-B14F-4D97-AF65-F5344CB8AC3E}">
        <p14:creationId xmlns:p14="http://schemas.microsoft.com/office/powerpoint/2010/main" val="13843067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2-64-42">
            <a:extLst xmlns:a="http://schemas.openxmlformats.org/drawingml/2006/main">
              <a:ext uri="{FF2B5EF4-FFF2-40B4-BE49-F238E27FC236}">
                <a16:creationId xmlns:a16="http://schemas.microsoft.com/office/drawing/2014/main" id="{F2C25FD7-8714-4AE0-8612-70E32C0791F9}"/>
              </a:ext>
            </a:extLst>
          </p:cNvPr>
          <p:cNvSpPr>
            <a:spLocks xmlns:a="http://schemas.openxmlformats.org/drawingml/2006/main" noGrp="1"/>
          </p:cNvSpPr>
          <p:nvPr/>
        </p:nvSpPr>
        <p:spPr>
          <a:xfrm xmlns:a="http://schemas.openxmlformats.org/drawingml/2006/main">
            <a:off x="609600" y="4000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87D78"/>
                </a:solidFill>
                <a:latin typeface="Arial"/>
                <a:ea typeface="Arial"/>
                <a:cs typeface="Arial"/>
              </a:defRPr>
            </a:pPr>
            <a:r>
              <a:rPr sz="1425" b="1">
                <a:solidFill>
                  <a:srgbClr val="087D78"/>
                </a:solidFill>
                <a:latin typeface="Arial"/>
                <a:ea typeface="Arial"/>
                <a:cs typeface="Arial"/>
              </a:rPr>
              <a:t>US 9</a:t>
            </a:r>
          </a:p>
        </p:txBody>
      </p:sp>
      <p:sp>
        <p:nvSpPr>
          <p:cNvPr id="2" name="title">
            <a:extLst xmlns:a="http://schemas.openxmlformats.org/drawingml/2006/main">
              <a:ext uri="{FF2B5EF4-FFF2-40B4-BE49-F238E27FC236}">
                <a16:creationId xmlns:a16="http://schemas.microsoft.com/office/drawing/2014/main" id="{43828089-07D6-4DDB-B12A-4ECF38B68A53}"/>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2527"/>
                </a:solidFill>
                <a:latin typeface="Arial"/>
                <a:ea typeface="Arial"/>
                <a:cs typeface="Arial"/>
              </a:defRPr>
            </a:pPr>
            <a:r>
              <a:rPr sz="3300" b="1">
                <a:solidFill>
                  <a:srgbClr val="202527"/>
                </a:solidFill>
                <a:latin typeface="Arial"/>
                <a:ea typeface="Arial"/>
                <a:cs typeface="Arial"/>
              </a:rPr>
              <a:t>Une même clé sous Linux et Windows</a:t>
            </a:r>
          </a:p>
        </p:txBody>
      </p:sp>
      <p:sp>
        <p:nvSpPr>
          <p:cNvPr id="3" name="text-12-1156-673">
            <a:extLst xmlns:a="http://schemas.openxmlformats.org/drawingml/2006/main">
              <a:ext uri="{FF2B5EF4-FFF2-40B4-BE49-F238E27FC236}">
                <a16:creationId xmlns:a16="http://schemas.microsoft.com/office/drawing/2014/main" id="{A4CC9701-E997-4A89-88F7-A85991712565}"/>
              </a:ext>
            </a:extLst>
          </p:cNvPr>
          <p:cNvSpPr>
            <a:spLocks xmlns:a="http://schemas.openxmlformats.org/drawingml/2006/main" noGrp="1"/>
          </p:cNvSpPr>
          <p:nvPr/>
        </p:nvSpPr>
        <p:spPr>
          <a:xfrm xmlns:a="http://schemas.openxmlformats.org/drawingml/2006/main">
            <a:off x="110109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60686C"/>
                </a:solidFill>
                <a:latin typeface="Arial"/>
                <a:ea typeface="Arial"/>
                <a:cs typeface="Arial"/>
              </a:defRPr>
            </a:pPr>
            <a:r>
              <a:rPr sz="1200">
                <a:solidFill>
                  <a:srgbClr val="60686C"/>
                </a:solidFill>
                <a:latin typeface="Arial"/>
                <a:ea typeface="Arial"/>
                <a:cs typeface="Arial"/>
              </a:rPr>
              <a:t>12</a:t>
            </a:r>
          </a:p>
        </p:txBody>
      </p:sp>
      <p:sp>
        <p:nvSpPr>
          <p:cNvPr id="4" name="text-12-64-209">
            <a:extLst xmlns:a="http://schemas.openxmlformats.org/drawingml/2006/main">
              <a:ext uri="{FF2B5EF4-FFF2-40B4-BE49-F238E27FC236}">
                <a16:creationId xmlns:a16="http://schemas.microsoft.com/office/drawing/2014/main" id="{6D96412D-9D28-4368-9F94-9383C30EA7CA}"/>
              </a:ext>
            </a:extLst>
          </p:cNvPr>
          <p:cNvSpPr>
            <a:spLocks xmlns:a="http://schemas.openxmlformats.org/drawingml/2006/main" noGrp="1"/>
          </p:cNvSpPr>
          <p:nvPr/>
        </p:nvSpPr>
        <p:spPr>
          <a:xfrm xmlns:a="http://schemas.openxmlformats.org/drawingml/2006/main">
            <a:off x="609600" y="199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87D78"/>
                </a:solidFill>
                <a:latin typeface="Arial"/>
                <a:ea typeface="Arial"/>
                <a:cs typeface="Arial"/>
              </a:defRPr>
            </a:pPr>
            <a:r>
              <a:rPr sz="2700" b="1">
                <a:solidFill>
                  <a:srgbClr val="087D78"/>
                </a:solidFill>
                <a:latin typeface="Arial"/>
                <a:ea typeface="Arial"/>
                <a:cs typeface="Arial"/>
              </a:rPr>
              <a:t>SanDisk Cruzer Micro</a:t>
            </a:r>
          </a:p>
        </p:txBody>
      </p:sp>
      <p:graphicFrame>
        <p:nvGraphicFramePr>
          <p:cNvPr id="11" name=""/>
          <p:cNvGraphicFramePr/>
          <p:nvPr/>
        </p:nvGraphicFramePr>
        <p:xfrm>
          <a:off xmlns:a="http://schemas.openxmlformats.org/drawingml/2006/main" x="609600" y="2800350"/>
          <a:ext xmlns:a="http://schemas.openxmlformats.org/drawingml/2006/main" cx="10972800" cy="2705100"/>
        </p:xfrm>
        <a:graphic xmlns:a="http://schemas.openxmlformats.org/drawingml/2006/main">
          <a:graphicData uri="http://schemas.openxmlformats.org/drawingml/2006/table">
            <a:tbl>
              <a:tblPr firstRow="1" bandRow="0"/>
              <a:tblGrid>
                <a:gridCol w="3924300"/>
                <a:gridCol w="7048500"/>
              </a:tblGrid>
              <a:tr h="533400">
                <a:tc>
                  <a:txBody>
                    <a:bodyPr/>
                    <a:lstStyle/>
                    <a:p>
                      <a:r>
                        <a:rPr sz="2025" b="1">
                          <a:solidFill>
                            <a:srgbClr val="087D78"/>
                          </a:solidFill>
                          <a:latin typeface="Arial"/>
                          <a:ea typeface="Arial"/>
                          <a:cs typeface="Arial"/>
                        </a:rPr>
                        <a:t>Identifiant</a:t>
                      </a:r>
                    </a:p>
                  </a:txBody>
                  <a:tcPr marL="171450" marR="152400" marT="133350" marB="114300" anchor="ctr">
                    <a:solidFill>
                      <a:srgbClr val="EFF5F3"/>
                    </a:solidFill>
                  </a:tcPr>
                </a:tc>
                <a:tc>
                  <a:txBody>
                    <a:bodyPr/>
                    <a:lstStyle/>
                    <a:p>
                      <a:r>
                        <a:rPr sz="2025" b="1">
                          <a:solidFill>
                            <a:srgbClr val="087D78"/>
                          </a:solidFill>
                          <a:latin typeface="Arial"/>
                          <a:ea typeface="Arial"/>
                          <a:cs typeface="Arial"/>
                        </a:rPr>
                        <a:t>Valeur documentée</a:t>
                      </a:r>
                    </a:p>
                  </a:txBody>
                  <a:tcPr marL="171450" marR="152400" marT="133350" marB="114300" anchor="ctr">
                    <a:solidFill>
                      <a:srgbClr val="EFF5F3"/>
                    </a:solidFill>
                  </a:tcPr>
                </a:tc>
              </a:tr>
              <a:tr h="723900">
                <a:tc>
                  <a:txBody>
                    <a:bodyPr/>
                    <a:lstStyle/>
                    <a:p>
                      <a:r>
                        <a:rPr sz="2025">
                          <a:solidFill>
                            <a:srgbClr val="202527"/>
                          </a:solidFill>
                          <a:latin typeface="Arial"/>
                          <a:ea typeface="Arial"/>
                          <a:cs typeface="Arial"/>
                        </a:rPr>
                        <a:t>Numéro de série</a:t>
                      </a:r>
                    </a:p>
                  </a:txBody>
                  <a:tcPr marL="171450" marR="152400" marT="133350" marB="114300" anchor="ctr">
                    <a:solidFill>
                      <a:srgbClr val="FFFFFF"/>
                    </a:solidFill>
                  </a:tcPr>
                </a:tc>
                <a:tc>
                  <a:txBody>
                    <a:bodyPr/>
                    <a:lstStyle/>
                    <a:p>
                      <a:r>
                        <a:rPr sz="2025">
                          <a:solidFill>
                            <a:srgbClr val="202527"/>
                          </a:solidFill>
                          <a:latin typeface="Arial"/>
                          <a:ea typeface="Arial"/>
                          <a:cs typeface="Arial"/>
                        </a:rPr>
                        <a:t>3514931B5ED0D062</a:t>
                      </a:r>
                    </a:p>
                  </a:txBody>
                  <a:tcPr marL="171450" marR="152400" marT="133350" marB="114300" anchor="ctr">
                    <a:solidFill>
                      <a:srgbClr val="FFFFFF"/>
                    </a:solidFill>
                  </a:tcPr>
                </a:tc>
              </a:tr>
              <a:tr h="723900">
                <a:tc>
                  <a:txBody>
                    <a:bodyPr/>
                    <a:lstStyle/>
                    <a:p>
                      <a:r>
                        <a:rPr sz="2025">
                          <a:solidFill>
                            <a:srgbClr val="202527"/>
                          </a:solidFill>
                          <a:latin typeface="Arial"/>
                          <a:ea typeface="Arial"/>
                          <a:cs typeface="Arial"/>
                        </a:rPr>
                        <a:t>USB sous Windows</a:t>
                      </a:r>
                    </a:p>
                  </a:txBody>
                  <a:tcPr marL="171450" marR="152400" marT="133350" marB="114300" anchor="ctr">
                    <a:solidFill>
                      <a:srgbClr val="FFFFFF"/>
                    </a:solidFill>
                  </a:tcPr>
                </a:tc>
                <a:tc>
                  <a:txBody>
                    <a:bodyPr/>
                    <a:lstStyle/>
                    <a:p>
                      <a:r>
                        <a:rPr sz="2025">
                          <a:solidFill>
                            <a:srgbClr val="202527"/>
                          </a:solidFill>
                          <a:latin typeface="Arial"/>
                          <a:ea typeface="Arial"/>
                          <a:cs typeface="Arial"/>
                        </a:rPr>
                        <a:t>VID 0781 / PID 5151</a:t>
                      </a:r>
                    </a:p>
                  </a:txBody>
                  <a:tcPr marL="171450" marR="152400" marT="133350" marB="114300" anchor="ctr">
                    <a:solidFill>
                      <a:srgbClr val="FFFFFF"/>
                    </a:solidFill>
                  </a:tcPr>
                </a:tc>
              </a:tr>
              <a:tr h="723900">
                <a:tc>
                  <a:txBody>
                    <a:bodyPr/>
                    <a:lstStyle/>
                    <a:p>
                      <a:r>
                        <a:rPr sz="2025">
                          <a:solidFill>
                            <a:srgbClr val="202527"/>
                          </a:solidFill>
                          <a:latin typeface="Arial"/>
                          <a:ea typeface="Arial"/>
                          <a:cs typeface="Arial"/>
                        </a:rPr>
                        <a:t>Repérage sous Linux</a:t>
                      </a:r>
                    </a:p>
                  </a:txBody>
                  <a:tcPr marL="171450" marR="152400" marT="133350" marB="114300" anchor="ctr">
                    <a:solidFill>
                      <a:srgbClr val="FFFFFF"/>
                    </a:solidFill>
                  </a:tcPr>
                </a:tc>
                <a:tc>
                  <a:txBody>
                    <a:bodyPr/>
                    <a:lstStyle/>
                    <a:p>
                      <a:r>
                        <a:rPr sz="2025">
                          <a:solidFill>
                            <a:srgbClr val="202527"/>
                          </a:solidFill>
                          <a:latin typeface="Arial"/>
                          <a:ea typeface="Arial"/>
                          <a:cs typeface="Arial"/>
                        </a:rPr>
                        <a:t>sda, transport USB</a:t>
                      </a:r>
                    </a:p>
                  </a:txBody>
                  <a:tcPr marL="171450" marR="152400" marT="133350" marB="114300" anchor="ctr">
                    <a:solidFill>
                      <a:srgbClr val="FFFFFF"/>
                    </a:solidFill>
                  </a:tcPr>
                </a:tc>
              </a:tr>
            </a:tbl>
          </a:graphicData>
        </a:graphic>
      </p:graphicFrame>
      <p:sp>
        <p:nvSpPr>
          <p:cNvPr id="6" name="text-12-64-616">
            <a:extLst xmlns:a="http://schemas.openxmlformats.org/drawingml/2006/main">
              <a:ext uri="{FF2B5EF4-FFF2-40B4-BE49-F238E27FC236}">
                <a16:creationId xmlns:a16="http://schemas.microsoft.com/office/drawing/2014/main" id="{FBC74812-1A1C-453B-A888-57477499BA9C}"/>
              </a:ext>
            </a:extLst>
          </p:cNvPr>
          <p:cNvSpPr>
            <a:spLocks xmlns:a="http://schemas.openxmlformats.org/drawingml/2006/main" noGrp="1"/>
          </p:cNvSpPr>
          <p:nvPr/>
        </p:nvSpPr>
        <p:spPr>
          <a:xfrm xmlns:a="http://schemas.openxmlformats.org/drawingml/2006/main">
            <a:off x="609600" y="5867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a:solidFill>
                  <a:srgbClr val="60686C"/>
                </a:solidFill>
                <a:latin typeface="Arial"/>
                <a:ea typeface="Arial"/>
                <a:cs typeface="Arial"/>
              </a:defRPr>
            </a:pPr>
            <a:r>
              <a:rPr sz="1950">
                <a:solidFill>
                  <a:srgbClr val="60686C"/>
                </a:solidFill>
                <a:latin typeface="Arial"/>
                <a:ea typeface="Arial"/>
                <a:cs typeface="Arial"/>
              </a:rPr>
              <a:t>Le numéro de série permet le rapprochement entre les deux systèmes.</a:t>
            </a:r>
          </a:p>
        </p:txBody>
      </p:sp>
    </p:spTree>
    <p:extLst>
      <p:ext uri="{BB962C8B-B14F-4D97-AF65-F5344CB8AC3E}">
        <p14:creationId xmlns:p14="http://schemas.microsoft.com/office/powerpoint/2010/main" val="168950418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3-64-42">
            <a:extLst xmlns:a="http://schemas.openxmlformats.org/drawingml/2006/main">
              <a:ext uri="{FF2B5EF4-FFF2-40B4-BE49-F238E27FC236}">
                <a16:creationId xmlns:a16="http://schemas.microsoft.com/office/drawing/2014/main" id="{6259F2FE-9093-48A3-9638-3B0DCD78E406}"/>
              </a:ext>
            </a:extLst>
          </p:cNvPr>
          <p:cNvSpPr>
            <a:spLocks xmlns:a="http://schemas.openxmlformats.org/drawingml/2006/main" noGrp="1"/>
          </p:cNvSpPr>
          <p:nvPr/>
        </p:nvSpPr>
        <p:spPr>
          <a:xfrm xmlns:a="http://schemas.openxmlformats.org/drawingml/2006/main">
            <a:off x="609600" y="4000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87D78"/>
                </a:solidFill>
                <a:latin typeface="Arial"/>
                <a:ea typeface="Arial"/>
                <a:cs typeface="Arial"/>
              </a:defRPr>
            </a:pPr>
            <a:r>
              <a:rPr sz="1425" b="1">
                <a:solidFill>
                  <a:srgbClr val="087D78"/>
                </a:solidFill>
                <a:latin typeface="Arial"/>
                <a:ea typeface="Arial"/>
                <a:cs typeface="Arial"/>
              </a:rPr>
              <a:t>US 10</a:t>
            </a:r>
          </a:p>
        </p:txBody>
      </p:sp>
      <p:sp>
        <p:nvSpPr>
          <p:cNvPr id="2" name="title">
            <a:extLst xmlns:a="http://schemas.openxmlformats.org/drawingml/2006/main">
              <a:ext uri="{FF2B5EF4-FFF2-40B4-BE49-F238E27FC236}">
                <a16:creationId xmlns:a16="http://schemas.microsoft.com/office/drawing/2014/main" id="{CCF5C482-AEE3-4D14-A541-62F1979F2326}"/>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2527"/>
                </a:solidFill>
                <a:latin typeface="Arial"/>
                <a:ea typeface="Arial"/>
                <a:cs typeface="Arial"/>
              </a:defRPr>
            </a:pPr>
            <a:r>
              <a:rPr sz="3300" b="1">
                <a:solidFill>
                  <a:srgbClr val="202527"/>
                </a:solidFill>
                <a:latin typeface="Arial"/>
                <a:ea typeface="Arial"/>
                <a:cs typeface="Arial"/>
              </a:rPr>
              <a:t>Windows conserve des dates de connexion</a:t>
            </a:r>
          </a:p>
        </p:txBody>
      </p:sp>
      <p:sp>
        <p:nvSpPr>
          <p:cNvPr id="3" name="text-13-1156-673">
            <a:extLst xmlns:a="http://schemas.openxmlformats.org/drawingml/2006/main">
              <a:ext uri="{FF2B5EF4-FFF2-40B4-BE49-F238E27FC236}">
                <a16:creationId xmlns:a16="http://schemas.microsoft.com/office/drawing/2014/main" id="{06D8A046-E55B-4379-BE4A-00724B2B309E}"/>
              </a:ext>
            </a:extLst>
          </p:cNvPr>
          <p:cNvSpPr>
            <a:spLocks xmlns:a="http://schemas.openxmlformats.org/drawingml/2006/main" noGrp="1"/>
          </p:cNvSpPr>
          <p:nvPr/>
        </p:nvSpPr>
        <p:spPr>
          <a:xfrm xmlns:a="http://schemas.openxmlformats.org/drawingml/2006/main">
            <a:off x="110109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60686C"/>
                </a:solidFill>
                <a:latin typeface="Arial"/>
                <a:ea typeface="Arial"/>
                <a:cs typeface="Arial"/>
              </a:defRPr>
            </a:pPr>
            <a:r>
              <a:rPr sz="1200">
                <a:solidFill>
                  <a:srgbClr val="60686C"/>
                </a:solidFill>
                <a:latin typeface="Arial"/>
                <a:ea typeface="Arial"/>
                <a:cs typeface="Arial"/>
              </a:rPr>
              <a:t>13</a:t>
            </a:r>
          </a:p>
        </p:txBody>
      </p:sp>
      <p:sp>
        <p:nvSpPr>
          <p:cNvPr id="4" name="text-13-64-201">
            <a:extLst xmlns:a="http://schemas.openxmlformats.org/drawingml/2006/main">
              <a:ext uri="{FF2B5EF4-FFF2-40B4-BE49-F238E27FC236}">
                <a16:creationId xmlns:a16="http://schemas.microsoft.com/office/drawing/2014/main" id="{D003300A-4AE9-492B-83AD-A82523A4291F}"/>
              </a:ext>
            </a:extLst>
          </p:cNvPr>
          <p:cNvSpPr>
            <a:spLocks xmlns:a="http://schemas.openxmlformats.org/drawingml/2006/main" noGrp="1"/>
          </p:cNvSpPr>
          <p:nvPr/>
        </p:nvSpPr>
        <p:spPr>
          <a:xfrm xmlns:a="http://schemas.openxmlformats.org/drawingml/2006/main">
            <a:off x="609600" y="19145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87D78"/>
                </a:solidFill>
                <a:latin typeface="Arial"/>
                <a:ea typeface="Arial"/>
                <a:cs typeface="Arial"/>
              </a:defRPr>
            </a:pPr>
            <a:r>
              <a:rPr sz="2550" b="1">
                <a:solidFill>
                  <a:srgbClr val="087D78"/>
                </a:solidFill>
                <a:latin typeface="Arial"/>
                <a:ea typeface="Arial"/>
                <a:cs typeface="Arial"/>
              </a:rPr>
              <a:t>08/09/2026</a:t>
            </a:r>
          </a:p>
        </p:txBody>
      </p:sp>
      <p:sp>
        <p:nvSpPr>
          <p:cNvPr id="6" name="text-13-64-575">
            <a:extLst xmlns:a="http://schemas.openxmlformats.org/drawingml/2006/main">
              <a:ext uri="{FF2B5EF4-FFF2-40B4-BE49-F238E27FC236}">
                <a16:creationId xmlns:a16="http://schemas.microsoft.com/office/drawing/2014/main" id="{BF08972E-DA6C-458C-A20A-13DA66AAE993}"/>
              </a:ext>
            </a:extLst>
          </p:cNvPr>
          <p:cNvSpPr>
            <a:spLocks xmlns:a="http://schemas.openxmlformats.org/drawingml/2006/main" noGrp="1"/>
          </p:cNvSpPr>
          <p:nvPr/>
        </p:nvSpPr>
        <p:spPr>
          <a:xfrm xmlns:a="http://schemas.openxmlformats.org/drawingml/2006/main">
            <a:off x="609600" y="54768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1400"/>
              </a:spcAft>
              <a:buChar char="•"/>
              <a:defRPr sz="2025">
                <a:solidFill>
                  <a:srgbClr val="202527"/>
                </a:solidFill>
                <a:latin typeface="Arial"/>
                <a:ea typeface="Arial"/>
                <a:cs typeface="Arial"/>
              </a:defRPr>
            </a:pPr>
            <a:r>
              <a:rPr sz="2025">
                <a:solidFill>
                  <a:srgbClr val="202527"/>
                </a:solidFill>
                <a:latin typeface="Arial"/>
                <a:ea typeface="Arial"/>
                <a:cs typeface="Arial"/>
              </a:rPr>
              <a:t>Première installation, dernière arrivée et dernier retrait</a:t>
            </a:r>
          </a:p>
          <a:p xmlns:a="http://schemas.openxmlformats.org/drawingml/2006/main">
            <a:pPr marL="228600" indent="-114300" algn="l">
              <a:spcAft>
                <a:spcPts val="1400"/>
              </a:spcAft>
              <a:buChar char="•"/>
              <a:defRPr sz="2025">
                <a:solidFill>
                  <a:srgbClr val="202527"/>
                </a:solidFill>
                <a:latin typeface="Arial"/>
                <a:ea typeface="Arial"/>
                <a:cs typeface="Arial"/>
              </a:defRPr>
            </a:pPr>
            <a:r>
              <a:rPr sz="2025">
                <a:solidFill>
                  <a:srgbClr val="202527"/>
                </a:solidFill>
                <a:latin typeface="Arial"/>
                <a:ea typeface="Arial"/>
                <a:cs typeface="Arial"/>
              </a:rPr>
              <a:t>Fuseau horaire et fichiers transférés inconnus</a:t>
            </a:r>
          </a:p>
        </p:txBody>
      </p:sp>
      <p:pic>
        <p:nvPicPr>
          <p:cNvPr id="11" name="" descr="Propriétés PnP : installation 10:41:09, dernière arrivée 11:43:58, dernier retrait 11:51:42 le 08/09/2026."/>
          <p:cNvPicPr>
            <a:picLocks xmlns:a="http://schemas.openxmlformats.org/drawingml/2006/main" noChangeAspect="1"/>
          </p:cNvPicPr>
          <p:nvPr/>
        </p:nvPicPr>
        <p:blipFill>
          <a:blip xmlns:r="http://schemas.openxmlformats.org/officeDocument/2006/relationships" xmlns:a="http://schemas.openxmlformats.org/drawingml/2006/main" r:embed="Redac57bfef8544e9"/>
          <a:srcRect xmlns:a="http://schemas.openxmlformats.org/drawingml/2006/main" l="8000" t="63200" r="47700" b="20000"/>
          <a:stretch xmlns:a="http://schemas.openxmlformats.org/drawingml/2006/main">
            <a:fillRect l="0" t="0" r="0" b="0"/>
          </a:stretch>
        </p:blipFill>
        <p:spPr>
          <a:xfrm xmlns:a="http://schemas.openxmlformats.org/drawingml/2006/main">
            <a:off x="609600" y="2419350"/>
            <a:ext cx="10972800" cy="2689877"/>
          </a:xfrm>
          <a:prstGeom xmlns:a="http://schemas.openxmlformats.org/drawingml/2006/main" prst="rect">
            <a:avLst/>
          </a:prstGeom>
        </p:spPr>
      </p:pic>
    </p:spTree>
    <p:extLst>
      <p:ext uri="{BB962C8B-B14F-4D97-AF65-F5344CB8AC3E}">
        <p14:creationId xmlns:p14="http://schemas.microsoft.com/office/powerpoint/2010/main" val="182342009"/>
      </p:ext>
    </p:extLst>
  </p:cSld>
</p:sld>
</file>

<file path=ppt/slides/slide14.xml><?xml version="1.0" encoding="utf-8"?>
<p:sld xmlns:p="http://schemas.openxmlformats.org/presentationml/2006/main">
  <p:cSld>
    <p:bg>
      <p:bgPr>
        <a:solidFill xmlns:a="http://schemas.openxmlformats.org/drawingml/2006/main">
          <a:srgbClr val="1C2224"/>
        </a:solidFill>
      </p:bgPr>
    </p:bg>
    <p:spTree>
      <p:nvGrpSpPr>
        <p:cNvPr id="1" name=""/>
        <p:cNvGrpSpPr/>
        <p:nvPr/>
      </p:nvGrpSpPr>
      <p:grpSpPr>
        <a:xfrm xmlns:a="http://schemas.openxmlformats.org/drawingml/2006/main"/>
      </p:grpSpPr>
      <p:sp>
        <p:nvSpPr>
          <p:cNvPr id="10" name="text-14-64-42">
            <a:extLst xmlns:a="http://schemas.openxmlformats.org/drawingml/2006/main">
              <a:ext uri="{FF2B5EF4-FFF2-40B4-BE49-F238E27FC236}">
                <a16:creationId xmlns:a16="http://schemas.microsoft.com/office/drawing/2014/main" id="{97D131A9-25B7-4B58-A48C-EAF4D73B7523}"/>
              </a:ext>
            </a:extLst>
          </p:cNvPr>
          <p:cNvSpPr>
            <a:spLocks xmlns:a="http://schemas.openxmlformats.org/drawingml/2006/main" noGrp="1"/>
          </p:cNvSpPr>
          <p:nvPr/>
        </p:nvSpPr>
        <p:spPr>
          <a:xfrm xmlns:a="http://schemas.openxmlformats.org/drawingml/2006/main">
            <a:off x="609600" y="400050"/>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ACDAD3"/>
                </a:solidFill>
                <a:latin typeface="Arial"/>
                <a:ea typeface="Arial"/>
                <a:cs typeface="Arial"/>
              </a:defRPr>
            </a:pPr>
            <a:r>
              <a:rPr sz="1425" b="1">
                <a:solidFill>
                  <a:srgbClr val="ACDAD3"/>
                </a:solidFill>
                <a:latin typeface="Arial"/>
                <a:ea typeface="Arial"/>
                <a:cs typeface="Arial"/>
              </a:rPr>
              <a:t>BILAN</a:t>
            </a:r>
          </a:p>
        </p:txBody>
      </p:sp>
      <p:sp>
        <p:nvSpPr>
          <p:cNvPr id="2" name="title">
            <a:extLst xmlns:a="http://schemas.openxmlformats.org/drawingml/2006/main">
              <a:ext uri="{FF2B5EF4-FFF2-40B4-BE49-F238E27FC236}">
                <a16:creationId xmlns:a16="http://schemas.microsoft.com/office/drawing/2014/main" id="{D864AF2B-72D8-4F46-B65B-6BAA5B6C1A2E}"/>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Un keylogger local, des limites explicites</a:t>
            </a:r>
          </a:p>
        </p:txBody>
      </p:sp>
      <p:sp>
        <p:nvSpPr>
          <p:cNvPr id="3" name="text-14-1156-673">
            <a:extLst xmlns:a="http://schemas.openxmlformats.org/drawingml/2006/main">
              <a:ext uri="{FF2B5EF4-FFF2-40B4-BE49-F238E27FC236}">
                <a16:creationId xmlns:a16="http://schemas.microsoft.com/office/drawing/2014/main" id="{DB9C71D6-57C8-4438-A718-E29CFC560A7D}"/>
              </a:ext>
            </a:extLst>
          </p:cNvPr>
          <p:cNvSpPr>
            <a:spLocks xmlns:a="http://schemas.openxmlformats.org/drawingml/2006/main" noGrp="1"/>
          </p:cNvSpPr>
          <p:nvPr/>
        </p:nvSpPr>
        <p:spPr>
          <a:xfrm xmlns:a="http://schemas.openxmlformats.org/drawingml/2006/main">
            <a:off x="110109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a:solidFill>
                  <a:srgbClr val="AEB8BA"/>
                </a:solidFill>
                <a:latin typeface="Arial"/>
                <a:ea typeface="Arial"/>
                <a:cs typeface="Arial"/>
              </a:defRPr>
            </a:pPr>
            <a:r>
              <a:rPr sz="1200">
                <a:solidFill>
                  <a:srgbClr val="AEB8BA"/>
                </a:solidFill>
                <a:latin typeface="Arial"/>
                <a:ea typeface="Arial"/>
                <a:cs typeface="Arial"/>
              </a:rPr>
              <a:t>14</a:t>
            </a:r>
          </a:p>
        </p:txBody>
      </p:sp>
      <p:sp>
        <p:nvSpPr>
          <p:cNvPr id="4" name="text-14-64-225">
            <a:extLst xmlns:a="http://schemas.openxmlformats.org/drawingml/2006/main">
              <a:ext uri="{FF2B5EF4-FFF2-40B4-BE49-F238E27FC236}">
                <a16:creationId xmlns:a16="http://schemas.microsoft.com/office/drawing/2014/main" id="{01B18D3D-C0DC-45FE-A9D5-5F182D847DB1}"/>
              </a:ext>
            </a:extLst>
          </p:cNvPr>
          <p:cNvSpPr>
            <a:spLocks xmlns:a="http://schemas.openxmlformats.org/drawingml/2006/main" noGrp="1"/>
          </p:cNvSpPr>
          <p:nvPr/>
        </p:nvSpPr>
        <p:spPr>
          <a:xfrm xmlns:a="http://schemas.openxmlformats.org/drawingml/2006/main">
            <a:off x="609600" y="214312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CDAD3"/>
                </a:solidFill>
                <a:latin typeface="Arial"/>
                <a:ea typeface="Arial"/>
                <a:cs typeface="Arial"/>
              </a:defRPr>
            </a:pPr>
            <a:r>
              <a:rPr sz="2400" b="1">
                <a:solidFill>
                  <a:srgbClr val="ACDAD3"/>
                </a:solidFill>
                <a:latin typeface="Arial"/>
                <a:ea typeface="Arial"/>
                <a:cs typeface="Arial"/>
              </a:rPr>
              <a:t>Faits établis</a:t>
            </a:r>
          </a:p>
        </p:txBody>
      </p:sp>
      <p:sp>
        <p:nvSpPr>
          <p:cNvPr id="5" name="text-14-64-303">
            <a:extLst xmlns:a="http://schemas.openxmlformats.org/drawingml/2006/main">
              <a:ext uri="{FF2B5EF4-FFF2-40B4-BE49-F238E27FC236}">
                <a16:creationId xmlns:a16="http://schemas.microsoft.com/office/drawing/2014/main" id="{B020AC0C-A558-4513-B12C-05B3BA0A6745}"/>
              </a:ext>
            </a:extLst>
          </p:cNvPr>
          <p:cNvSpPr>
            <a:spLocks xmlns:a="http://schemas.openxmlformats.org/drawingml/2006/main" noGrp="1"/>
          </p:cNvSpPr>
          <p:nvPr/>
        </p:nvSpPr>
        <p:spPr>
          <a:xfrm xmlns:a="http://schemas.openxmlformats.org/drawingml/2006/main">
            <a:off x="609600" y="2886075"/>
            <a:ext cx="48577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1400"/>
              </a:spcAft>
              <a:buChar char="•"/>
              <a:defRPr sz="2250">
                <a:solidFill>
                  <a:srgbClr val="FFFFFF"/>
                </a:solidFill>
                <a:latin typeface="Arial"/>
                <a:ea typeface="Arial"/>
                <a:cs typeface="Arial"/>
              </a:defRPr>
            </a:pPr>
            <a:r>
              <a:rPr sz="2250">
                <a:solidFill>
                  <a:srgbClr val="FFFFFF"/>
                </a:solidFill>
                <a:latin typeface="Arial"/>
                <a:ea typeface="Arial"/>
                <a:cs typeface="Arial"/>
              </a:rPr>
              <a:t>Capture locale des frappes</a:t>
            </a:r>
          </a:p>
          <a:p xmlns:a="http://schemas.openxmlformats.org/drawingml/2006/main">
            <a:pPr marL="228600" indent="-114300" algn="l">
              <a:spcAft>
                <a:spcPts val="1400"/>
              </a:spcAft>
              <a:buChar char="•"/>
              <a:defRPr sz="2250">
                <a:solidFill>
                  <a:srgbClr val="FFFFFF"/>
                </a:solidFill>
                <a:latin typeface="Arial"/>
                <a:ea typeface="Arial"/>
                <a:cs typeface="Arial"/>
              </a:defRPr>
            </a:pPr>
            <a:r>
              <a:rPr sz="2250">
                <a:solidFill>
                  <a:srgbClr val="FFFFFF"/>
                </a:solidFill>
                <a:latin typeface="Arial"/>
                <a:ea typeface="Arial"/>
                <a:cs typeface="Arial"/>
              </a:rPr>
              <a:t>Res.exe en RAM et sur disque</a:t>
            </a:r>
          </a:p>
          <a:p xmlns:a="http://schemas.openxmlformats.org/drawingml/2006/main">
            <a:pPr marL="228600" indent="-114300" algn="l">
              <a:spcAft>
                <a:spcPts val="1400"/>
              </a:spcAft>
              <a:buChar char="•"/>
              <a:defRPr sz="2250">
                <a:solidFill>
                  <a:srgbClr val="FFFFFF"/>
                </a:solidFill>
                <a:latin typeface="Arial"/>
                <a:ea typeface="Arial"/>
                <a:cs typeface="Arial"/>
              </a:defRPr>
            </a:pPr>
            <a:r>
              <a:rPr sz="2250">
                <a:solidFill>
                  <a:srgbClr val="FFFFFF"/>
                </a:solidFill>
                <a:latin typeface="Arial"/>
                <a:ea typeface="Arial"/>
                <a:cs typeface="Arial"/>
              </a:rPr>
              <a:t>Clé USB identifiée et datée</a:t>
            </a:r>
          </a:p>
        </p:txBody>
      </p:sp>
      <p:sp>
        <p:nvSpPr>
          <p:cNvPr id="6" name="text-14-688-225">
            <a:extLst xmlns:a="http://schemas.openxmlformats.org/drawingml/2006/main">
              <a:ext uri="{FF2B5EF4-FFF2-40B4-BE49-F238E27FC236}">
                <a16:creationId xmlns:a16="http://schemas.microsoft.com/office/drawing/2014/main" id="{8F92097F-4A0F-4F9D-A05D-FAF2902527EA}"/>
              </a:ext>
            </a:extLst>
          </p:cNvPr>
          <p:cNvSpPr>
            <a:spLocks xmlns:a="http://schemas.openxmlformats.org/drawingml/2006/main" noGrp="1"/>
          </p:cNvSpPr>
          <p:nvPr/>
        </p:nvSpPr>
        <p:spPr>
          <a:xfrm xmlns:a="http://schemas.openxmlformats.org/drawingml/2006/main">
            <a:off x="6553200" y="2143125"/>
            <a:ext cx="5029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09684"/>
                </a:solidFill>
                <a:latin typeface="Arial"/>
                <a:ea typeface="Arial"/>
                <a:cs typeface="Arial"/>
              </a:defRPr>
            </a:pPr>
            <a:r>
              <a:rPr sz="2400" b="1">
                <a:solidFill>
                  <a:srgbClr val="F09684"/>
                </a:solidFill>
                <a:latin typeface="Arial"/>
                <a:ea typeface="Arial"/>
                <a:cs typeface="Arial"/>
              </a:rPr>
              <a:t>Points ouverts</a:t>
            </a:r>
          </a:p>
        </p:txBody>
      </p:sp>
      <p:sp>
        <p:nvSpPr>
          <p:cNvPr id="7" name="text-14-688-303">
            <a:extLst xmlns:a="http://schemas.openxmlformats.org/drawingml/2006/main">
              <a:ext uri="{FF2B5EF4-FFF2-40B4-BE49-F238E27FC236}">
                <a16:creationId xmlns:a16="http://schemas.microsoft.com/office/drawing/2014/main" id="{51C7202E-DDB0-428D-A237-F8D7FE6B354F}"/>
              </a:ext>
            </a:extLst>
          </p:cNvPr>
          <p:cNvSpPr>
            <a:spLocks xmlns:a="http://schemas.openxmlformats.org/drawingml/2006/main" noGrp="1"/>
          </p:cNvSpPr>
          <p:nvPr/>
        </p:nvSpPr>
        <p:spPr>
          <a:xfrm xmlns:a="http://schemas.openxmlformats.org/drawingml/2006/main">
            <a:off x="6553200" y="2886075"/>
            <a:ext cx="50292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1400"/>
              </a:spcAft>
              <a:buChar char="•"/>
              <a:defRPr sz="2250">
                <a:solidFill>
                  <a:srgbClr val="FFFFFF"/>
                </a:solidFill>
                <a:latin typeface="Arial"/>
                <a:ea typeface="Arial"/>
                <a:cs typeface="Arial"/>
              </a:defRPr>
            </a:pPr>
            <a:r>
              <a:rPr sz="2250">
                <a:solidFill>
                  <a:srgbClr val="FFFFFF"/>
                </a:solidFill>
                <a:latin typeface="Arial"/>
                <a:ea typeface="Arial"/>
                <a:cs typeface="Arial"/>
              </a:rPr>
              <a:t>Emplacement exact de la persistance</a:t>
            </a:r>
          </a:p>
          <a:p xmlns:a="http://schemas.openxmlformats.org/drawingml/2006/main">
            <a:pPr marL="228600" indent="-114300" algn="l">
              <a:spcAft>
                <a:spcPts val="1400"/>
              </a:spcAft>
              <a:buChar char="•"/>
              <a:defRPr sz="2250">
                <a:solidFill>
                  <a:srgbClr val="FFFFFF"/>
                </a:solidFill>
                <a:latin typeface="Arial"/>
                <a:ea typeface="Arial"/>
                <a:cs typeface="Arial"/>
              </a:defRPr>
            </a:pPr>
            <a:r>
              <a:rPr sz="2250">
                <a:solidFill>
                  <a:srgbClr val="FFFFFF"/>
                </a:solidFill>
                <a:latin typeface="Arial"/>
                <a:ea typeface="Arial"/>
                <a:cs typeface="Arial"/>
              </a:rPr>
              <a:t>Éventuelle exfiltration réseau</a:t>
            </a:r>
          </a:p>
          <a:p xmlns:a="http://schemas.openxmlformats.org/drawingml/2006/main">
            <a:pPr marL="228600" indent="-114300" algn="l">
              <a:spcAft>
                <a:spcPts val="1400"/>
              </a:spcAft>
              <a:buChar char="•"/>
              <a:defRPr sz="2250">
                <a:solidFill>
                  <a:srgbClr val="FFFFFF"/>
                </a:solidFill>
                <a:latin typeface="Arial"/>
                <a:ea typeface="Arial"/>
                <a:cs typeface="Arial"/>
              </a:defRPr>
            </a:pPr>
            <a:r>
              <a:rPr sz="2250">
                <a:solidFill>
                  <a:srgbClr val="FFFFFF"/>
                </a:solidFill>
                <a:latin typeface="Arial"/>
                <a:ea typeface="Arial"/>
                <a:cs typeface="Arial"/>
              </a:rPr>
              <a:t>Fichiers transférés via la clé</a:t>
            </a:r>
          </a:p>
        </p:txBody>
      </p:sp>
      <p:sp>
        <p:nvSpPr>
          <p:cNvPr id="8" name="">
            <a:extLst xmlns:a="http://schemas.openxmlformats.org/drawingml/2006/main">
              <a:ext uri="{FF2B5EF4-FFF2-40B4-BE49-F238E27FC236}">
                <a16:creationId xmlns:a16="http://schemas.microsoft.com/office/drawing/2014/main" id="{C8071D79-5871-48EC-8FB4-96CC6C674209}"/>
              </a:ext>
            </a:extLst>
          </p:cNvPr>
          <p:cNvSpPr>
            <a:spLocks xmlns:a="http://schemas.openxmlformats.org/drawingml/2006/main" noGrp="1"/>
          </p:cNvSpPr>
          <p:nvPr/>
        </p:nvSpPr>
        <p:spPr>
          <a:xfrm xmlns:a="http://schemas.openxmlformats.org/drawingml/2006/main">
            <a:off x="609600" y="5524500"/>
            <a:ext cx="10972800" cy="9525"/>
          </a:xfrm>
          <a:prstGeom xmlns:a="http://schemas.openxmlformats.org/drawingml/2006/main" prst="rect">
            <a:avLst/>
          </a:prstGeom>
          <a:solidFill xmlns:a="http://schemas.openxmlformats.org/drawingml/2006/main">
            <a:srgbClr val="495355"/>
          </a:solidFill>
          <a:ln xmlns:a="http://schemas.openxmlformats.org/drawingml/2006/main" w="0">
            <a:noFill/>
          </a:ln>
        </p:spPr>
      </p:sp>
      <p:sp>
        <p:nvSpPr>
          <p:cNvPr id="9" name="text-14-64-610">
            <a:extLst xmlns:a="http://schemas.openxmlformats.org/drawingml/2006/main">
              <a:ext uri="{FF2B5EF4-FFF2-40B4-BE49-F238E27FC236}">
                <a16:creationId xmlns:a16="http://schemas.microsoft.com/office/drawing/2014/main" id="{6E29AC0C-BA4A-4A9A-9918-C4ED601DBA57}"/>
              </a:ext>
            </a:extLst>
          </p:cNvPr>
          <p:cNvSpPr>
            <a:spLocks xmlns:a="http://schemas.openxmlformats.org/drawingml/2006/main" noGrp="1"/>
          </p:cNvSpPr>
          <p:nvPr/>
        </p:nvSpPr>
        <p:spPr>
          <a:xfrm xmlns:a="http://schemas.openxmlformats.org/drawingml/2006/main">
            <a:off x="609600" y="58102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CDAD3"/>
                </a:solidFill>
                <a:latin typeface="Arial"/>
                <a:ea typeface="Arial"/>
                <a:cs typeface="Arial"/>
              </a:defRPr>
            </a:pPr>
            <a:r>
              <a:rPr sz="2400" b="1">
                <a:solidFill>
                  <a:srgbClr val="ACDAD3"/>
                </a:solidFill>
                <a:latin typeface="Arial"/>
                <a:ea typeface="Arial"/>
                <a:cs typeface="Arial"/>
              </a:rPr>
              <a:t>Questions</a:t>
            </a:r>
          </a:p>
        </p:txBody>
      </p:sp>
    </p:spTree>
    <p:extLst>
      <p:ext uri="{BB962C8B-B14F-4D97-AF65-F5344CB8AC3E}">
        <p14:creationId xmlns:p14="http://schemas.microsoft.com/office/powerpoint/2010/main" val="1938321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2026-09-10T14:35:18.3570000Z</dcterms:created>
  <dcterms:modified xsi:type="dcterms:W3CDTF">2026-09-10T14:35:18.3570000Z</dcterms:modified>
</coreProperties>
</file>